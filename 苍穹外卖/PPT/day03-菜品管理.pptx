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6.xml" ContentType="application/vnd.openxmlformats-officedocument.theme+xml"/>
  <Override PartName="/ppt/slideLayouts/slideLayout3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97"/>
  </p:notesMasterIdLst>
  <p:handoutMasterIdLst>
    <p:handoutMasterId r:id="rId98"/>
  </p:handoutMasterIdLst>
  <p:sldIdLst>
    <p:sldId id="1913" r:id="rId8"/>
    <p:sldId id="1880" r:id="rId9"/>
    <p:sldId id="1702" r:id="rId10"/>
    <p:sldId id="1710" r:id="rId11"/>
    <p:sldId id="1859" r:id="rId12"/>
    <p:sldId id="2032" r:id="rId13"/>
    <p:sldId id="1920" r:id="rId14"/>
    <p:sldId id="2031" r:id="rId15"/>
    <p:sldId id="1921" r:id="rId16"/>
    <p:sldId id="2033" r:id="rId17"/>
    <p:sldId id="2034" r:id="rId18"/>
    <p:sldId id="2038" r:id="rId19"/>
    <p:sldId id="2039" r:id="rId20"/>
    <p:sldId id="2036" r:id="rId21"/>
    <p:sldId id="2037" r:id="rId22"/>
    <p:sldId id="2030" r:id="rId23"/>
    <p:sldId id="1971" r:id="rId24"/>
    <p:sldId id="1976" r:id="rId25"/>
    <p:sldId id="1922" r:id="rId26"/>
    <p:sldId id="1923" r:id="rId27"/>
    <p:sldId id="2040" r:id="rId28"/>
    <p:sldId id="2004" r:id="rId29"/>
    <p:sldId id="2041" r:id="rId30"/>
    <p:sldId id="2042" r:id="rId31"/>
    <p:sldId id="2043" r:id="rId32"/>
    <p:sldId id="2044" r:id="rId33"/>
    <p:sldId id="1974" r:id="rId34"/>
    <p:sldId id="1926" r:id="rId35"/>
    <p:sldId id="2046" r:id="rId36"/>
    <p:sldId id="2047" r:id="rId37"/>
    <p:sldId id="2048" r:id="rId38"/>
    <p:sldId id="2045" r:id="rId39"/>
    <p:sldId id="2007" r:id="rId40"/>
    <p:sldId id="2049" r:id="rId41"/>
    <p:sldId id="2050" r:id="rId42"/>
    <p:sldId id="2051" r:id="rId43"/>
    <p:sldId id="2052" r:id="rId44"/>
    <p:sldId id="1973" r:id="rId45"/>
    <p:sldId id="1928" r:id="rId46"/>
    <p:sldId id="1915" r:id="rId47"/>
    <p:sldId id="1929" r:id="rId48"/>
    <p:sldId id="1932" r:id="rId49"/>
    <p:sldId id="2014" r:id="rId50"/>
    <p:sldId id="2053" r:id="rId51"/>
    <p:sldId id="1977" r:id="rId52"/>
    <p:sldId id="1933" r:id="rId53"/>
    <p:sldId id="2015" r:id="rId54"/>
    <p:sldId id="2054" r:id="rId55"/>
    <p:sldId id="2016" r:id="rId56"/>
    <p:sldId id="2055" r:id="rId57"/>
    <p:sldId id="2017" r:id="rId58"/>
    <p:sldId id="2018" r:id="rId59"/>
    <p:sldId id="1978" r:id="rId60"/>
    <p:sldId id="1937" r:id="rId61"/>
    <p:sldId id="1916" r:id="rId62"/>
    <p:sldId id="1953" r:id="rId63"/>
    <p:sldId id="1952" r:id="rId64"/>
    <p:sldId id="2019" r:id="rId65"/>
    <p:sldId id="2056" r:id="rId66"/>
    <p:sldId id="2057" r:id="rId67"/>
    <p:sldId id="1979" r:id="rId68"/>
    <p:sldId id="1956" r:id="rId69"/>
    <p:sldId id="2020" r:id="rId70"/>
    <p:sldId id="2021" r:id="rId71"/>
    <p:sldId id="2022" r:id="rId72"/>
    <p:sldId id="2024" r:id="rId73"/>
    <p:sldId id="2025" r:id="rId74"/>
    <p:sldId id="2026" r:id="rId75"/>
    <p:sldId id="1982" r:id="rId76"/>
    <p:sldId id="1981" r:id="rId77"/>
    <p:sldId id="1917" r:id="rId78"/>
    <p:sldId id="1954" r:id="rId79"/>
    <p:sldId id="1959" r:id="rId80"/>
    <p:sldId id="2027" r:id="rId81"/>
    <p:sldId id="2058" r:id="rId82"/>
    <p:sldId id="2059" r:id="rId83"/>
    <p:sldId id="1984" r:id="rId84"/>
    <p:sldId id="1962" r:id="rId85"/>
    <p:sldId id="2066" r:id="rId86"/>
    <p:sldId id="2067" r:id="rId87"/>
    <p:sldId id="2068" r:id="rId88"/>
    <p:sldId id="2069" r:id="rId89"/>
    <p:sldId id="2070" r:id="rId90"/>
    <p:sldId id="2071" r:id="rId91"/>
    <p:sldId id="2072" r:id="rId92"/>
    <p:sldId id="2073" r:id="rId93"/>
    <p:sldId id="1983" r:id="rId94"/>
    <p:sldId id="1961" r:id="rId95"/>
    <p:sldId id="1704" r:id="rId9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per" initials="s" lastIdx="1" clrIdx="0">
    <p:extLst>
      <p:ext uri="{19B8F6BF-5375-455C-9EA6-DF929625EA0E}">
        <p15:presenceInfo xmlns:p15="http://schemas.microsoft.com/office/powerpoint/2012/main" userId="sup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4"/>
    <a:srgbClr val="FF0000"/>
    <a:srgbClr val="A144A5"/>
    <a:srgbClr val="92D050"/>
    <a:srgbClr val="C00000"/>
    <a:srgbClr val="D8EEC0"/>
    <a:srgbClr val="B37AB0"/>
    <a:srgbClr val="B475AD"/>
    <a:srgbClr val="D9F3D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16" autoAdjust="0"/>
    <p:restoredTop sz="92556" autoAdjust="0"/>
  </p:normalViewPr>
  <p:slideViewPr>
    <p:cSldViewPr snapToGrid="0">
      <p:cViewPr varScale="1">
        <p:scale>
          <a:sx n="68" d="100"/>
          <a:sy n="68" d="100"/>
        </p:scale>
        <p:origin x="60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 showGuides="1">
      <p:cViewPr varScale="1">
        <p:scale>
          <a:sx n="51" d="100"/>
          <a:sy n="51" d="100"/>
        </p:scale>
        <p:origin x="26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slide" Target="slides/slide77.xml"/><Relationship Id="rId89" Type="http://schemas.openxmlformats.org/officeDocument/2006/relationships/slide" Target="slides/slide82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87" Type="http://schemas.openxmlformats.org/officeDocument/2006/relationships/slide" Target="slides/slide80.xml"/><Relationship Id="rId10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90" Type="http://schemas.openxmlformats.org/officeDocument/2006/relationships/slide" Target="slides/slide83.xml"/><Relationship Id="rId95" Type="http://schemas.openxmlformats.org/officeDocument/2006/relationships/slide" Target="slides/slide88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slide" Target="slides/slide70.xml"/><Relationship Id="rId100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93" Type="http://schemas.openxmlformats.org/officeDocument/2006/relationships/slide" Target="slides/slide86.xml"/><Relationship Id="rId9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103" Type="http://schemas.openxmlformats.org/officeDocument/2006/relationships/tableStyles" Target="tableStyle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91" Type="http://schemas.openxmlformats.org/officeDocument/2006/relationships/slide" Target="slides/slide84.xml"/><Relationship Id="rId96" Type="http://schemas.openxmlformats.org/officeDocument/2006/relationships/slide" Target="slides/slide8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94" Type="http://schemas.openxmlformats.org/officeDocument/2006/relationships/slide" Target="slides/slide87.xml"/><Relationship Id="rId99" Type="http://schemas.openxmlformats.org/officeDocument/2006/relationships/commentAuthors" Target="commentAuthors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2026/1/22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03195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072210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131155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536253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5250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34024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6C6B16B-7FC0-904C-B475-F9CF5C74E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28098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89947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5388186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3300769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sv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6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6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5D63DA79-7D60-4A42-A1B3-9BB10C9E05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018" y="5296483"/>
            <a:ext cx="3565964" cy="58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12" r:id="rId2"/>
    <p:sldLayoutId id="2147483718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942E7471-620D-FA4E-A59B-D8C1A79C3F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17" r:id="rId2"/>
    <p:sldLayoutId id="2147483719" r:id="rId3"/>
    <p:sldLayoutId id="2147483721" r:id="rId4"/>
    <p:sldLayoutId id="214748372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8479B63A-0E02-2349-8BED-44C85C23E174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ACD341D-631E-1C41-AA57-E78DF51FD162}"/>
              </a:ext>
            </a:extLst>
          </p:cNvPr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</a:t>
            </a:r>
            <a:r>
              <a:rPr lang="zh-CN" altLang="en-US" sz="210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，用更短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时间</a:t>
            </a:r>
            <a:r>
              <a:rPr lang="zh-CN" altLang="en-US" sz="210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，教会更实用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的技术！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13C4AB-ADA7-6942-8140-5DC8E0577838}"/>
              </a:ext>
            </a:extLst>
          </p:cNvPr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4C7863-89B5-3040-9FC7-D2B2A900C20B}"/>
              </a:ext>
            </a:extLst>
          </p:cNvPr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F68358-2C42-514C-A18F-D22A7C3B0412}"/>
              </a:ext>
            </a:extLst>
          </p:cNvPr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A90E8C-99EA-674B-BE48-642DDFA26B82}"/>
              </a:ext>
            </a:extLst>
          </p:cNvPr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DC5CCC4C-800E-9040-97B5-C1E1BE251216}"/>
              </a:ext>
            </a:extLst>
          </p:cNvPr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>
            <a:extLst>
              <a:ext uri="{FF2B5EF4-FFF2-40B4-BE49-F238E27FC236}">
                <a16:creationId xmlns:a16="http://schemas.microsoft.com/office/drawing/2014/main" id="{36B7D234-E207-414F-8E81-F360C01EFF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7" name="矩形 14">
            <a:extLst>
              <a:ext uri="{FF2B5EF4-FFF2-40B4-BE49-F238E27FC236}">
                <a16:creationId xmlns:a16="http://schemas.microsoft.com/office/drawing/2014/main" id="{CBF3DED2-69B0-F340-BDFB-E540327A7264}"/>
              </a:ext>
            </a:extLst>
          </p:cNvPr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104775 w 2202525"/>
              <a:gd name="connsiteY3" fmla="*/ 272456 h 275631"/>
              <a:gd name="connsiteX4" fmla="*/ 0 w 2202525"/>
              <a:gd name="connsiteY4" fmla="*/ 0 h 27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840A94-AFCB-F14C-AC1D-7BFA5CCE05BC}"/>
              </a:ext>
            </a:extLst>
          </p:cNvPr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Alibaba PuHuiTi" pitchFamily="18" charset="-122"/>
              </a:rPr>
              <a:t>高级软件人才培训专家</a:t>
            </a:r>
          </a:p>
        </p:txBody>
      </p:sp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6" r:id="rId14"/>
    <p:sldLayoutId id="2147483710" r:id="rId15"/>
    <p:sldLayoutId id="2147483706" r:id="rId16"/>
    <p:sldLayoutId id="2147483713" r:id="rId17"/>
    <p:sldLayoutId id="2147483715" r:id="rId18"/>
    <p:sldLayoutId id="2147483724" r:id="rId1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227BF9-01FA-AE4B-9DB9-E3DAB164E5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89" y="2322246"/>
            <a:ext cx="3168023" cy="130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5400"/>
              <a:t>菜品管理</a:t>
            </a:r>
            <a:endParaRPr kumimoji="1"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857791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CCF2B21-4464-0BA2-3EDD-F1B25B966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21" y="1354302"/>
            <a:ext cx="10597227" cy="5022644"/>
          </a:xfrm>
          <a:prstGeom prst="roundRect">
            <a:avLst>
              <a:gd name="adj" fmla="val 850"/>
            </a:avLst>
          </a:prstGeom>
          <a:ln w="3175">
            <a:solidFill>
              <a:schemeClr val="tx1"/>
            </a:solidFill>
            <a:prstDash val="lgDash"/>
          </a:ln>
        </p:spPr>
      </p:pic>
    </p:spTree>
    <p:extLst>
      <p:ext uri="{BB962C8B-B14F-4D97-AF65-F5344CB8AC3E}">
        <p14:creationId xmlns:p14="http://schemas.microsoft.com/office/powerpoint/2010/main" val="1843208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D2954-D48C-E398-816E-76C84B0C87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2027584"/>
            <a:ext cx="5973761" cy="3045348"/>
          </a:xfrm>
        </p:spPr>
        <p:txBody>
          <a:bodyPr/>
          <a:lstStyle/>
          <a:p>
            <a:r>
              <a:rPr lang="zh-CN" altLang="en-US"/>
              <a:t>公共字段自动填充</a:t>
            </a:r>
            <a:endParaRPr lang="en-US" altLang="zh-CN"/>
          </a:p>
          <a:p>
            <a:r>
              <a:rPr lang="zh-CN" altLang="en-US"/>
              <a:t>新增菜品</a:t>
            </a:r>
            <a:endParaRPr lang="en-US" altLang="zh-CN"/>
          </a:p>
          <a:p>
            <a:r>
              <a:rPr lang="zh-CN" altLang="en-US"/>
              <a:t>菜品分页查询</a:t>
            </a:r>
            <a:endParaRPr lang="en-US" altLang="zh-CN"/>
          </a:p>
          <a:p>
            <a:r>
              <a:rPr lang="zh-CN" altLang="en-US"/>
              <a:t>删除菜品</a:t>
            </a:r>
            <a:endParaRPr lang="en-US" altLang="zh-CN"/>
          </a:p>
          <a:p>
            <a:r>
              <a:rPr lang="zh-CN" altLang="en-US"/>
              <a:t>修改菜品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2356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08197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公共字段自动填充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1994575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问题分析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实现思路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1500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问题分析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3DF538-B750-9EDE-83D2-3EE46810EC85}"/>
              </a:ext>
            </a:extLst>
          </p:cNvPr>
          <p:cNvSpPr txBox="1"/>
          <p:nvPr/>
        </p:nvSpPr>
        <p:spPr>
          <a:xfrm>
            <a:off x="710565" y="1675765"/>
            <a:ext cx="1060196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业务表中的公共字段：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0FF69B38-3B24-A695-D27B-F83EFB3BD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009654"/>
              </p:ext>
            </p:extLst>
          </p:nvPr>
        </p:nvGraphicFramePr>
        <p:xfrm>
          <a:off x="842537" y="2289095"/>
          <a:ext cx="10210799" cy="1818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83815">
                  <a:extLst>
                    <a:ext uri="{9D8B030D-6E8A-4147-A177-3AD203B41FA5}">
                      <a16:colId xmlns:a16="http://schemas.microsoft.com/office/drawing/2014/main" val="3037756864"/>
                    </a:ext>
                  </a:extLst>
                </a:gridCol>
                <a:gridCol w="3028551">
                  <a:extLst>
                    <a:ext uri="{9D8B030D-6E8A-4147-A177-3AD203B41FA5}">
                      <a16:colId xmlns:a16="http://schemas.microsoft.com/office/drawing/2014/main" val="1815385502"/>
                    </a:ext>
                  </a:extLst>
                </a:gridCol>
                <a:gridCol w="3068930">
                  <a:extLst>
                    <a:ext uri="{9D8B030D-6E8A-4147-A177-3AD203B41FA5}">
                      <a16:colId xmlns:a16="http://schemas.microsoft.com/office/drawing/2014/main" val="152736290"/>
                    </a:ext>
                  </a:extLst>
                </a:gridCol>
                <a:gridCol w="3129503">
                  <a:extLst>
                    <a:ext uri="{9D8B030D-6E8A-4147-A177-3AD203B41FA5}">
                      <a16:colId xmlns:a16="http://schemas.microsoft.com/office/drawing/2014/main" val="2198380008"/>
                    </a:ext>
                  </a:extLst>
                </a:gridCol>
              </a:tblGrid>
              <a:tr h="198819">
                <a:tc>
                  <a:txBody>
                    <a:bodyPr/>
                    <a:lstStyle/>
                    <a:p>
                      <a:r>
                        <a:rPr lang="zh-CN" altLang="en-US" sz="1600">
                          <a:ea typeface="阿里巴巴普惠体" panose="00020600040101010101"/>
                        </a:rPr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a typeface="阿里巴巴普惠体" panose="00020600040101010101"/>
                        </a:rPr>
                        <a:t>字段名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a typeface="阿里巴巴普惠体" panose="00020600040101010101"/>
                        </a:rPr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a typeface="阿里巴巴普惠体" panose="00020600040101010101"/>
                        </a:rPr>
                        <a:t>数据类型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04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1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create_time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创建时间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datetime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074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2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create_user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创建人</a:t>
                      </a:r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id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bigint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906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3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update_time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修改时间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datetime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5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4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update_user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修改人</a:t>
                      </a:r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id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bigint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852643"/>
                  </a:ext>
                </a:extLst>
              </a:tr>
            </a:tbl>
          </a:graphicData>
        </a:graphic>
      </p:graphicFrame>
      <p:sp>
        <p:nvSpPr>
          <p:cNvPr id="15" name="Rectangle 1">
            <a:extLst>
              <a:ext uri="{FF2B5EF4-FFF2-40B4-BE49-F238E27FC236}">
                <a16:creationId xmlns:a16="http://schemas.microsoft.com/office/drawing/2014/main" id="{89DFCB73-021C-5914-9A0B-510C293C7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537" y="4582296"/>
            <a:ext cx="4932759" cy="975033"/>
          </a:xfrm>
          <a:prstGeom prst="roundRect">
            <a:avLst>
              <a:gd name="adj" fmla="val 7191"/>
            </a:avLst>
          </a:prstGeom>
          <a:solidFill>
            <a:srgbClr val="FFFFE4"/>
          </a:solidFill>
          <a:ln w="9525">
            <a:solidFill>
              <a:schemeClr val="tx1"/>
            </a:solidFill>
            <a:prstDash val="lgDash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设置当前记录的创建时间</a:t>
            </a:r>
            <a:r>
              <a:rPr kumimoji="0" lang="zh-CN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、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修改时间</a:t>
            </a:r>
            <a:r>
              <a:rPr kumimoji="0" lang="zh-CN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、创建人、修改人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employee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.setCreateTime(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LocalDateTime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now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());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employee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.setUpdateTime(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LocalDateTime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now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());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employee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.setCreateUser(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BaseContext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getCurrentId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());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employee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.setUpdateUser(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BaseContext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getCurrentId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());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EF36839-0611-B1E6-EE0F-3E6ADC054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235" y="4582296"/>
            <a:ext cx="5050102" cy="975033"/>
          </a:xfrm>
          <a:prstGeom prst="roundRect">
            <a:avLst>
              <a:gd name="adj" fmla="val 7480"/>
            </a:avLst>
          </a:prstGeom>
          <a:solidFill>
            <a:srgbClr val="FFFFE4"/>
          </a:solidFill>
          <a:ln w="9525">
            <a:solidFill>
              <a:schemeClr val="tx1"/>
            </a:solidFill>
            <a:prstDash val="lgDash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设置创建时间、修改时间、创建人、修改人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category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.setCreateTime(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LocalDateTime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now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());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category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.setUpdateTime(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LocalDateTime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now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());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category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.setCreateUser(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BaseContext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getCurrentId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());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category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.setUpdateUser(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BaseContext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getCurrentId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());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5054792-F5C2-809D-7102-3A9C4867707D}"/>
              </a:ext>
            </a:extLst>
          </p:cNvPr>
          <p:cNvSpPr txBox="1"/>
          <p:nvPr/>
        </p:nvSpPr>
        <p:spPr>
          <a:xfrm>
            <a:off x="842537" y="6031890"/>
            <a:ext cx="1060196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问题：代码冗余、不便于后期维护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2648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08197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公共字段自动填充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1994575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问题分析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实现思路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918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实现思路</a:t>
            </a:r>
          </a:p>
        </p:txBody>
      </p:sp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662444FD-8F20-C41C-75B8-586F54742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393266"/>
              </p:ext>
            </p:extLst>
          </p:nvPr>
        </p:nvGraphicFramePr>
        <p:xfrm>
          <a:off x="834585" y="1732504"/>
          <a:ext cx="10210800" cy="1818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74887">
                  <a:extLst>
                    <a:ext uri="{9D8B030D-6E8A-4147-A177-3AD203B41FA5}">
                      <a16:colId xmlns:a16="http://schemas.microsoft.com/office/drawing/2014/main" val="3037756864"/>
                    </a:ext>
                  </a:extLst>
                </a:gridCol>
                <a:gridCol w="2385392">
                  <a:extLst>
                    <a:ext uri="{9D8B030D-6E8A-4147-A177-3AD203B41FA5}">
                      <a16:colId xmlns:a16="http://schemas.microsoft.com/office/drawing/2014/main" val="1815385502"/>
                    </a:ext>
                  </a:extLst>
                </a:gridCol>
                <a:gridCol w="2417196">
                  <a:extLst>
                    <a:ext uri="{9D8B030D-6E8A-4147-A177-3AD203B41FA5}">
                      <a16:colId xmlns:a16="http://schemas.microsoft.com/office/drawing/2014/main" val="152736290"/>
                    </a:ext>
                  </a:extLst>
                </a:gridCol>
                <a:gridCol w="2464905">
                  <a:extLst>
                    <a:ext uri="{9D8B030D-6E8A-4147-A177-3AD203B41FA5}">
                      <a16:colId xmlns:a16="http://schemas.microsoft.com/office/drawing/2014/main" val="2198380008"/>
                    </a:ext>
                  </a:extLst>
                </a:gridCol>
                <a:gridCol w="2168420">
                  <a:extLst>
                    <a:ext uri="{9D8B030D-6E8A-4147-A177-3AD203B41FA5}">
                      <a16:colId xmlns:a16="http://schemas.microsoft.com/office/drawing/2014/main" val="3047531644"/>
                    </a:ext>
                  </a:extLst>
                </a:gridCol>
              </a:tblGrid>
              <a:tr h="198819">
                <a:tc>
                  <a:txBody>
                    <a:bodyPr/>
                    <a:lstStyle/>
                    <a:p>
                      <a:r>
                        <a:rPr lang="zh-CN" altLang="en-US" sz="1600">
                          <a:ea typeface="阿里巴巴普惠体" panose="00020600040101010101"/>
                        </a:rPr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a typeface="阿里巴巴普惠体" panose="00020600040101010101"/>
                        </a:rPr>
                        <a:t>字段名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a typeface="阿里巴巴普惠体" panose="00020600040101010101"/>
                        </a:rPr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a typeface="阿里巴巴普惠体" panose="00020600040101010101"/>
                        </a:rPr>
                        <a:t>数据类型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a typeface="阿里巴巴普惠体" panose="00020600040101010101"/>
                        </a:rPr>
                        <a:t>操作类型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04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1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create_time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创建时间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datetime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sz="2400">
                          <a:solidFill>
                            <a:srgbClr val="FF0000"/>
                          </a:solidFill>
                          <a:ea typeface="阿里巴巴普惠体" panose="00020600040101010101"/>
                        </a:rPr>
                        <a:t>insert</a:t>
                      </a:r>
                      <a:endParaRPr lang="zh-CN" altLang="en-US" sz="1600">
                        <a:solidFill>
                          <a:srgbClr val="FF0000"/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074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2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create_user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创建人</a:t>
                      </a:r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id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bigint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906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3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update_time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修改时间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datetime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sz="2400">
                          <a:solidFill>
                            <a:srgbClr val="FF0000"/>
                          </a:solidFill>
                          <a:ea typeface="阿里巴巴普惠体" panose="00020600040101010101"/>
                        </a:rPr>
                        <a:t>insert</a:t>
                      </a:r>
                      <a:r>
                        <a:rPr lang="zh-CN" altLang="en-US" sz="2400">
                          <a:solidFill>
                            <a:srgbClr val="FF0000"/>
                          </a:solidFill>
                          <a:ea typeface="阿里巴巴普惠体" panose="00020600040101010101"/>
                        </a:rPr>
                        <a:t>、</a:t>
                      </a:r>
                      <a:r>
                        <a:rPr lang="en-US" altLang="zh-CN" sz="2400">
                          <a:solidFill>
                            <a:srgbClr val="FF0000"/>
                          </a:solidFill>
                          <a:ea typeface="阿里巴巴普惠体" panose="00020600040101010101"/>
                        </a:rPr>
                        <a:t>update</a:t>
                      </a:r>
                      <a:endParaRPr lang="zh-CN" altLang="en-US" sz="2400">
                        <a:solidFill>
                          <a:srgbClr val="FF0000"/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5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4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update_user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修改人</a:t>
                      </a:r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id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/>
                        </a:rPr>
                        <a:t>bigint</a:t>
                      </a:r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85264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6C9FD29-7099-32BA-417C-A674DD1F9E7D}"/>
              </a:ext>
            </a:extLst>
          </p:cNvPr>
          <p:cNvSpPr txBox="1"/>
          <p:nvPr/>
        </p:nvSpPr>
        <p:spPr>
          <a:xfrm>
            <a:off x="759300" y="4116815"/>
            <a:ext cx="10601960" cy="2480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自定义注解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AutoFill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，用于标识需要进行公共字段自动填充的方法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自定义切面类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AutoFillAspect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，统一拦截加入了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AutoFill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注解的方法，通过反射为公共字段赋值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在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Mapper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的方法上加入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AutoFill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注解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技术点：枚举、注解、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AOP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、反射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1615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08197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公共字段自动填充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1994575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问题分析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实现思路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256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9FFDB9-7F1F-22FE-B2B2-8FD98806C96D}"/>
              </a:ext>
            </a:extLst>
          </p:cNvPr>
          <p:cNvSpPr txBox="1"/>
          <p:nvPr/>
        </p:nvSpPr>
        <p:spPr>
          <a:xfrm>
            <a:off x="710565" y="1675765"/>
            <a:ext cx="1060196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自定义注解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AutoFill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92AD1E3-6261-9A5C-853E-A3C8A1249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082" y="2426938"/>
            <a:ext cx="8857753" cy="2536865"/>
          </a:xfrm>
          <a:prstGeom prst="roundRect">
            <a:avLst>
              <a:gd name="adj" fmla="val 2563"/>
            </a:avLst>
          </a:prstGeom>
          <a:solidFill>
            <a:srgbClr val="FFFFE4"/>
          </a:solidFill>
          <a:ln w="9525">
            <a:solidFill>
              <a:schemeClr val="tx1"/>
            </a:solidFill>
            <a:prstDash val="lgDash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自动填充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@Target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ElementType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METHOD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@Retention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RetentionPolicy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RUNTIME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interface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AutoFill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数据库操作类型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@return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OperationType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value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350784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01C2E2E-D60C-7FEC-6E71-664FEE2DF055}"/>
              </a:ext>
            </a:extLst>
          </p:cNvPr>
          <p:cNvSpPr txBox="1"/>
          <p:nvPr/>
        </p:nvSpPr>
        <p:spPr>
          <a:xfrm>
            <a:off x="710565" y="1675765"/>
            <a:ext cx="1060196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自定义切面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AutoFillAspect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FA38C12-1A5A-6205-0095-F4F538AA1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235" y="2388901"/>
            <a:ext cx="9112195" cy="3853339"/>
          </a:xfrm>
          <a:prstGeom prst="roundRect">
            <a:avLst>
              <a:gd name="adj" fmla="val 2311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自定义切面类，统一为公共字段赋值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@Aspect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@Component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@Slf4j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class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AutoFillAspect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切入点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@Pointcut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"execution(* com.sky.mapper.*.*(..)) &amp;&amp; @annotation(com.sky.annotation.AutoFill)"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void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autoFillPointCut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() {}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通知 自动填充公共字段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joinPoint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@Before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"autoFillPointCut()"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void </a:t>
            </a:r>
            <a:r>
              <a:rPr lang="en-US" altLang="zh-CN" sz="1100">
                <a:solidFill>
                  <a:srgbClr val="00627A"/>
                </a:solidFill>
                <a:latin typeface="Consolas" panose="020B0609020204030204" pitchFamily="49" charset="0"/>
                <a:ea typeface="阿里巴巴普惠体" panose="00020600040101010101"/>
              </a:rPr>
              <a:t>a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utoFill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JoinPoint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joinPoint) 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.info(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公共字段自动填充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..."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lang="en-US" altLang="zh-CN" sz="110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1208116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D4AC9D-1D75-DD74-D762-0BAB08E9301B}"/>
              </a:ext>
            </a:extLst>
          </p:cNvPr>
          <p:cNvSpPr txBox="1"/>
          <p:nvPr/>
        </p:nvSpPr>
        <p:spPr>
          <a:xfrm>
            <a:off x="710565" y="1675765"/>
            <a:ext cx="1060196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完善自定义切面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AutoFillAspect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的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autoFill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方法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6C7DF58-A2F4-B671-91F9-620E0F472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838" y="2331577"/>
            <a:ext cx="8285259" cy="4222433"/>
          </a:xfrm>
          <a:prstGeom prst="roundRect">
            <a:avLst>
              <a:gd name="adj" fmla="val 3109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.info(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公共字段自动填充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..."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获得方法签名对象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MethodSignature signature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MethodSignature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 joinPoint.getSignature();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获得方法上的注解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AutoFill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autoFill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signature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.getMethod().getAnnotation(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AutoFill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class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获得注解中的操作类型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OperationType operationType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autoFill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.value();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获取当前目标方法的参数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Object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[]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args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joinPoint.getArgs();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args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null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||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args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length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0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 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return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实体对象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Object entity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args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[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0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];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准备赋值的数据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LocalDateTime time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LocalDateTime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now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 empId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BaseContext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getCurrentId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();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154719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D4AC9D-1D75-DD74-D762-0BAB08E9301B}"/>
              </a:ext>
            </a:extLst>
          </p:cNvPr>
          <p:cNvSpPr txBox="1"/>
          <p:nvPr/>
        </p:nvSpPr>
        <p:spPr>
          <a:xfrm>
            <a:off x="710565" y="1675765"/>
            <a:ext cx="1060196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完善自定义切面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AutoFillAspect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的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autoFill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方法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0AA2A7F-A66D-81BF-B2EE-FBFA69780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78" y="2362962"/>
            <a:ext cx="9928280" cy="2998768"/>
          </a:xfrm>
          <a:prstGeom prst="roundRect">
            <a:avLst>
              <a:gd name="adj" fmla="val 3070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operationType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OperationType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INSERT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 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当前执行的是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insert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操作，为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4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个字段赋值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try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获得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方法对象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----Method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Method setCreateTime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entity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.getClass().getDeclaredMethod(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AutoFillConstant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SET_CREATE_TIME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LocalDateTime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class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Method setUpdateTime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entity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.getClass().getDeclaredMethod(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AutoFillConstant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SET_UPDATE_TIME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LocalDateTime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class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Method setCreateUser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entity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.getClass().getDeclaredMethod(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AutoFillConstant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SET_CREATE_USER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class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Method setUpdateUser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entity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.getClass().getDeclaredMethod(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AutoFillConstant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SET_UPDATE_USER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class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通过反射调用目标对象的方法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setCreateTime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.invoke(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entity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</a:t>
            </a:r>
            <a: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setUpdateTime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.invoke(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entity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setCreateUser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.invoke(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entity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empId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setUpdateUser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.invoke(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entity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empId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}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catch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Exception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ex) 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.error(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公共字段自动填充失败：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{}"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ex.getMessage());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305475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D4AC9D-1D75-DD74-D762-0BAB08E9301B}"/>
              </a:ext>
            </a:extLst>
          </p:cNvPr>
          <p:cNvSpPr txBox="1"/>
          <p:nvPr/>
        </p:nvSpPr>
        <p:spPr>
          <a:xfrm>
            <a:off x="710565" y="1675765"/>
            <a:ext cx="1060196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完善自定义切面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AutoFillAspect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的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autoFill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方法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D12597-DCA2-72EB-BDA3-CAC1D3D7F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786" y="2354382"/>
            <a:ext cx="10571894" cy="2827853"/>
          </a:xfrm>
          <a:prstGeom prst="roundRect">
            <a:avLst>
              <a:gd name="adj" fmla="val 2632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else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当前执行的是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update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操作，为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2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个字段赋值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try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获得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方法对象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----Method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Method setUpdateTime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entity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.getClass().getDeclaredMethod(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AutoFillConstant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SET_UPDATE_TIME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LocalDateTime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class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Method setUpdateUser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entity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.getClass().getDeclaredMethod(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AutoFillConstant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SET_UPDATE_USER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class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通过反射调用目标对象的方法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            </a:t>
            </a:r>
            <a:r>
              <a:rPr kumimoji="0" lang="en-US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setUpdateTime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.invoke(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entity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setUpdateUser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.invoke(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entity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empId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}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catch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Exception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ex) 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.error(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公共字段自动填充失败：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{}"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ex.getMessage());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2642963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6A8ABE-5EAA-E410-F91C-C4D1C7B53278}"/>
              </a:ext>
            </a:extLst>
          </p:cNvPr>
          <p:cNvSpPr txBox="1"/>
          <p:nvPr/>
        </p:nvSpPr>
        <p:spPr>
          <a:xfrm>
            <a:off x="710565" y="1675765"/>
            <a:ext cx="1060196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Mapper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接口的方法上加入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AutoFill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注解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9A183A5-4DA6-87B0-A8CE-EAB0D3AB9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440" y="2472275"/>
            <a:ext cx="10230209" cy="2827853"/>
          </a:xfrm>
          <a:prstGeom prst="roundRect">
            <a:avLst>
              <a:gd name="adj" fmla="val 3728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插入数据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category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@AutoFill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OperationType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INSERT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@Insert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"insert into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category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type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name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sort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status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create_time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update_time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create_user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update_user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+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 VALUES"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+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 (#{type}, #{name}, #{sort}, #{status}, #{createTime}, #{updateTime}, #{createUser}, #{updateUser})"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void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insert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Category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category);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根据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修改分类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category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@AutoFill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OperationType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UPDATE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void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update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Category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category);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236234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EB91965-517D-9900-5930-BEAF679AB59E}"/>
              </a:ext>
            </a:extLst>
          </p:cNvPr>
          <p:cNvSpPr txBox="1"/>
          <p:nvPr/>
        </p:nvSpPr>
        <p:spPr>
          <a:xfrm>
            <a:off x="710565" y="1675765"/>
            <a:ext cx="1060196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将业务层为公共字段赋值的代码注释掉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5661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08197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公共字段自动填充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1994575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问题分析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实现思路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991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功能测试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A5FC865-0D13-0A81-C927-E3BD42CD6D3C}"/>
              </a:ext>
            </a:extLst>
          </p:cNvPr>
          <p:cNvSpPr txBox="1"/>
          <p:nvPr/>
        </p:nvSpPr>
        <p:spPr>
          <a:xfrm>
            <a:off x="710565" y="1616075"/>
            <a:ext cx="9768205" cy="4181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通过观察控制台输出的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SQL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来确定公共字段填充是否完成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C8C649-B09A-AD99-3CAE-8CA2DFF61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2492963"/>
            <a:ext cx="10814606" cy="7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6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D2954-D48C-E398-816E-76C84B0C87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2027584"/>
            <a:ext cx="5973761" cy="3045348"/>
          </a:xfrm>
        </p:spPr>
        <p:txBody>
          <a:bodyPr/>
          <a:lstStyle/>
          <a:p>
            <a:r>
              <a:rPr lang="zh-CN" altLang="en-US"/>
              <a:t>公共字段自动填充</a:t>
            </a:r>
            <a:endParaRPr lang="en-US" altLang="zh-CN"/>
          </a:p>
          <a:p>
            <a:r>
              <a:rPr lang="zh-CN" altLang="en-US"/>
              <a:t>新增菜品</a:t>
            </a:r>
            <a:endParaRPr lang="en-US" altLang="zh-CN"/>
          </a:p>
          <a:p>
            <a:r>
              <a:rPr lang="zh-CN" altLang="en-US"/>
              <a:t>菜品分页查询</a:t>
            </a:r>
            <a:endParaRPr lang="en-US" altLang="zh-CN"/>
          </a:p>
          <a:p>
            <a:r>
              <a:rPr lang="zh-CN" altLang="en-US"/>
              <a:t>删除菜品</a:t>
            </a:r>
            <a:endParaRPr lang="en-US" altLang="zh-CN"/>
          </a:p>
          <a:p>
            <a:r>
              <a:rPr lang="zh-CN" altLang="en-US"/>
              <a:t>修改菜品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9968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08197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新增菜品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09794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需求分析和设计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084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4CCF84-6106-E6CC-111B-4E944A4A2C07}"/>
              </a:ext>
            </a:extLst>
          </p:cNvPr>
          <p:cNvSpPr txBox="1"/>
          <p:nvPr/>
        </p:nvSpPr>
        <p:spPr>
          <a:xfrm>
            <a:off x="710565" y="1675765"/>
            <a:ext cx="1060196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产品原型：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C30D2E1-A7EC-34B1-FA39-122D459EC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731" y="1876754"/>
            <a:ext cx="6688667" cy="4796761"/>
          </a:xfrm>
          <a:prstGeom prst="roundRect">
            <a:avLst>
              <a:gd name="adj" fmla="val 1748"/>
            </a:avLst>
          </a:prstGeom>
          <a:ln w="3175">
            <a:solidFill>
              <a:schemeClr val="tx1"/>
            </a:solidFill>
            <a:prstDash val="lgDash"/>
          </a:ln>
        </p:spPr>
      </p:pic>
    </p:spTree>
    <p:extLst>
      <p:ext uri="{BB962C8B-B14F-4D97-AF65-F5344CB8AC3E}">
        <p14:creationId xmlns:p14="http://schemas.microsoft.com/office/powerpoint/2010/main" val="272090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C1C61B-EF9D-4FA8-05C4-DC50514AF649}"/>
              </a:ext>
            </a:extLst>
          </p:cNvPr>
          <p:cNvSpPr txBox="1"/>
          <p:nvPr/>
        </p:nvSpPr>
        <p:spPr>
          <a:xfrm>
            <a:off x="710565" y="1675765"/>
            <a:ext cx="8501168" cy="2357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业务规则：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菜品名称必须是唯一的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菜品必须属于某个分类下，不能单独存在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新增菜品时可以根据情况选择菜品的口味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每个菜品必须对应一张图片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8683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BC99BF-BAF1-DE8F-5773-75125112205E}"/>
              </a:ext>
            </a:extLst>
          </p:cNvPr>
          <p:cNvSpPr txBox="1"/>
          <p:nvPr/>
        </p:nvSpPr>
        <p:spPr>
          <a:xfrm>
            <a:off x="710565" y="1636010"/>
            <a:ext cx="10601960" cy="238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接口设计：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根据类型查询分类（已完成）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文件上传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新增菜品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617D561-4406-7861-0647-FC00636D7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288" y="2384456"/>
            <a:ext cx="5215690" cy="3740419"/>
          </a:xfrm>
          <a:prstGeom prst="roundRect">
            <a:avLst>
              <a:gd name="adj" fmla="val 1748"/>
            </a:avLst>
          </a:prstGeom>
          <a:ln w="3175">
            <a:solidFill>
              <a:schemeClr val="tx1"/>
            </a:solidFill>
            <a:prstDash val="lgDash"/>
          </a:ln>
        </p:spPr>
      </p:pic>
    </p:spTree>
    <p:extLst>
      <p:ext uri="{BB962C8B-B14F-4D97-AF65-F5344CB8AC3E}">
        <p14:creationId xmlns:p14="http://schemas.microsoft.com/office/powerpoint/2010/main" val="960707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BC99BF-BAF1-DE8F-5773-75125112205E}"/>
              </a:ext>
            </a:extLst>
          </p:cNvPr>
          <p:cNvSpPr txBox="1"/>
          <p:nvPr/>
        </p:nvSpPr>
        <p:spPr>
          <a:xfrm>
            <a:off x="710565" y="1636010"/>
            <a:ext cx="10601960" cy="1403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接口设计：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根据类型查询分类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DB033E-8421-5DA9-E774-26FE8A232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934" y="2231152"/>
            <a:ext cx="4389786" cy="43897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00D9CB6-9DCC-FB2C-676D-748BCD4CC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50" y="3387845"/>
            <a:ext cx="4222967" cy="322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3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BC99BF-BAF1-DE8F-5773-75125112205E}"/>
              </a:ext>
            </a:extLst>
          </p:cNvPr>
          <p:cNvSpPr txBox="1"/>
          <p:nvPr/>
        </p:nvSpPr>
        <p:spPr>
          <a:xfrm>
            <a:off x="710565" y="1636010"/>
            <a:ext cx="10601960" cy="1403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接口设计：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文件上传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C64DDD-79A3-F2BE-F562-F006DF3AC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294" y="2350962"/>
            <a:ext cx="4111946" cy="43546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A509CB5-8434-D1BC-6984-77FBCDEA2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407" y="2417061"/>
            <a:ext cx="4337273" cy="195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2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BC99BF-BAF1-DE8F-5773-75125112205E}"/>
              </a:ext>
            </a:extLst>
          </p:cNvPr>
          <p:cNvSpPr txBox="1"/>
          <p:nvPr/>
        </p:nvSpPr>
        <p:spPr>
          <a:xfrm>
            <a:off x="710565" y="1636010"/>
            <a:ext cx="10601960" cy="1403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接口设计：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新增菜品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B0B215-A5ED-1980-4E3B-02B2649E9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29" y="3453329"/>
            <a:ext cx="3139112" cy="27969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03B36D7-3088-54D7-2AE4-22B3F3F09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689" y="4429066"/>
            <a:ext cx="3511730" cy="17717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BFDCE7D-C95B-78D0-D374-791600F08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316" y="2768674"/>
            <a:ext cx="4205198" cy="344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BC99BF-BAF1-DE8F-5773-75125112205E}"/>
              </a:ext>
            </a:extLst>
          </p:cNvPr>
          <p:cNvSpPr txBox="1"/>
          <p:nvPr/>
        </p:nvSpPr>
        <p:spPr>
          <a:xfrm>
            <a:off x="710565" y="1636010"/>
            <a:ext cx="10601960" cy="910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数据库设计（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dish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菜品表和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dish_flavor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口味表）：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4B6DC5F-6429-350F-D4D4-36C4B0DC7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133502"/>
              </p:ext>
            </p:extLst>
          </p:nvPr>
        </p:nvGraphicFramePr>
        <p:xfrm>
          <a:off x="879474" y="2326555"/>
          <a:ext cx="5216524" cy="4351343"/>
        </p:xfrm>
        <a:graphic>
          <a:graphicData uri="http://schemas.openxmlformats.org/drawingml/2006/table">
            <a:tbl>
              <a:tblPr/>
              <a:tblGrid>
                <a:gridCol w="1304131">
                  <a:extLst>
                    <a:ext uri="{9D8B030D-6E8A-4147-A177-3AD203B41FA5}">
                      <a16:colId xmlns:a16="http://schemas.microsoft.com/office/drawing/2014/main" val="2363940286"/>
                    </a:ext>
                  </a:extLst>
                </a:gridCol>
                <a:gridCol w="1304131">
                  <a:extLst>
                    <a:ext uri="{9D8B030D-6E8A-4147-A177-3AD203B41FA5}">
                      <a16:colId xmlns:a16="http://schemas.microsoft.com/office/drawing/2014/main" val="3911496708"/>
                    </a:ext>
                  </a:extLst>
                </a:gridCol>
                <a:gridCol w="1304131">
                  <a:extLst>
                    <a:ext uri="{9D8B030D-6E8A-4147-A177-3AD203B41FA5}">
                      <a16:colId xmlns:a16="http://schemas.microsoft.com/office/drawing/2014/main" val="2626900778"/>
                    </a:ext>
                  </a:extLst>
                </a:gridCol>
                <a:gridCol w="1304131">
                  <a:extLst>
                    <a:ext uri="{9D8B030D-6E8A-4147-A177-3AD203B41FA5}">
                      <a16:colId xmlns:a16="http://schemas.microsoft.com/office/drawing/2014/main" val="3178532522"/>
                    </a:ext>
                  </a:extLst>
                </a:gridCol>
              </a:tblGrid>
              <a:tr h="376832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字段名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数据类型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说明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备注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3229669"/>
                  </a:ext>
                </a:extLst>
              </a:tr>
              <a:tr h="206191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id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bigint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主键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自增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422231"/>
                  </a:ext>
                </a:extLst>
              </a:tr>
              <a:tr h="376832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name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varchar(32)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菜品名称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唯一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775897"/>
                  </a:ext>
                </a:extLst>
              </a:tr>
              <a:tr h="376832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category_id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bigint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分类</a:t>
                      </a:r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id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逻辑外键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5449505"/>
                  </a:ext>
                </a:extLst>
              </a:tr>
              <a:tr h="376832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price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decimal(10,2)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菜品价格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ea typeface="阿里巴巴普惠体" panose="00020600040101010101"/>
                      </a:endParaRP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42417"/>
                  </a:ext>
                </a:extLst>
              </a:tr>
              <a:tr h="376832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image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varchar(255)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图片路径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ea typeface="阿里巴巴普惠体" panose="00020600040101010101"/>
                      </a:endParaRP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251400"/>
                  </a:ext>
                </a:extLst>
              </a:tr>
              <a:tr h="376832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description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varchar(255)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菜品描述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ea typeface="阿里巴巴普惠体" panose="00020600040101010101"/>
                      </a:endParaRP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209315"/>
                  </a:ext>
                </a:extLst>
              </a:tr>
              <a:tr h="376832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status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int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售卖状态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1</a:t>
                      </a:r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起售 </a:t>
                      </a:r>
                      <a:r>
                        <a:rPr lang="en-US" altLang="zh-CN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0</a:t>
                      </a:r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停售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5790657"/>
                  </a:ext>
                </a:extLst>
              </a:tr>
              <a:tr h="376832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create_time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datetime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创建时间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ea typeface="阿里巴巴普惠体" panose="00020600040101010101"/>
                      </a:endParaRP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219179"/>
                  </a:ext>
                </a:extLst>
              </a:tr>
              <a:tr h="376832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update_time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datetime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最后修改时间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ea typeface="阿里巴巴普惠体" panose="00020600040101010101"/>
                      </a:endParaRP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659464"/>
                  </a:ext>
                </a:extLst>
              </a:tr>
              <a:tr h="376832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create_user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bigint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创建人</a:t>
                      </a:r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id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ea typeface="阿里巴巴普惠体" panose="00020600040101010101"/>
                      </a:endParaRP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310956"/>
                  </a:ext>
                </a:extLst>
              </a:tr>
              <a:tr h="376832">
                <a:tc>
                  <a:txBody>
                    <a:bodyPr/>
                    <a:lstStyle/>
                    <a:p>
                      <a:pPr algn="l"/>
                      <a:r>
                        <a:rPr lang="en-US" sz="11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update_user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bigint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阿里巴巴普惠体" panose="00020600040101010101"/>
                        </a:rPr>
                        <a:t>最后修改人</a:t>
                      </a:r>
                      <a:r>
                        <a:rPr lang="en-US" sz="11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阿里巴巴普惠体" panose="00020600040101010101"/>
                        </a:rPr>
                        <a:t>id</a:t>
                      </a: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br>
                        <a:rPr lang="zh-CN" altLang="en-US" sz="11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阿里巴巴普惠体" panose="00020600040101010101"/>
                        </a:rPr>
                      </a:br>
                      <a:endParaRPr lang="zh-CN" altLang="en-US" sz="11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阿里巴巴普惠体" panose="00020600040101010101"/>
                      </a:endParaRPr>
                    </a:p>
                  </a:txBody>
                  <a:tcPr marL="38513" marR="38513" marT="17775" marB="1777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276126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4BB887C8-1362-F26B-191B-73FFDCD42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172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55BEB7E-96C8-8F8C-D8F7-1EDFA25EB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337950"/>
              </p:ext>
            </p:extLst>
          </p:nvPr>
        </p:nvGraphicFramePr>
        <p:xfrm>
          <a:off x="7216720" y="2333232"/>
          <a:ext cx="4264712" cy="1936574"/>
        </p:xfrm>
        <a:graphic>
          <a:graphicData uri="http://schemas.openxmlformats.org/drawingml/2006/table">
            <a:tbl>
              <a:tblPr/>
              <a:tblGrid>
                <a:gridCol w="1066178">
                  <a:extLst>
                    <a:ext uri="{9D8B030D-6E8A-4147-A177-3AD203B41FA5}">
                      <a16:colId xmlns:a16="http://schemas.microsoft.com/office/drawing/2014/main" val="3748876253"/>
                    </a:ext>
                  </a:extLst>
                </a:gridCol>
                <a:gridCol w="1066178">
                  <a:extLst>
                    <a:ext uri="{9D8B030D-6E8A-4147-A177-3AD203B41FA5}">
                      <a16:colId xmlns:a16="http://schemas.microsoft.com/office/drawing/2014/main" val="3710718833"/>
                    </a:ext>
                  </a:extLst>
                </a:gridCol>
                <a:gridCol w="1066178">
                  <a:extLst>
                    <a:ext uri="{9D8B030D-6E8A-4147-A177-3AD203B41FA5}">
                      <a16:colId xmlns:a16="http://schemas.microsoft.com/office/drawing/2014/main" val="4011691167"/>
                    </a:ext>
                  </a:extLst>
                </a:gridCol>
                <a:gridCol w="1066178">
                  <a:extLst>
                    <a:ext uri="{9D8B030D-6E8A-4147-A177-3AD203B41FA5}">
                      <a16:colId xmlns:a16="http://schemas.microsoft.com/office/drawing/2014/main" val="3830627796"/>
                    </a:ext>
                  </a:extLst>
                </a:gridCol>
              </a:tblGrid>
              <a:tr h="217478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字段名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数据类型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说明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备注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5728546"/>
                  </a:ext>
                </a:extLst>
              </a:tr>
              <a:tr h="388765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id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bigint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主键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自增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1806739"/>
                  </a:ext>
                </a:extLst>
              </a:tr>
              <a:tr h="442764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dish_id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bigint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菜品</a:t>
                      </a:r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id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逻辑外键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317549"/>
                  </a:ext>
                </a:extLst>
              </a:tr>
              <a:tr h="449725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name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varchar(32)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ea typeface="阿里巴巴普惠体" panose="00020600040101010101"/>
                        </a:rPr>
                        <a:t>口味名称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ea typeface="阿里巴巴普惠体" panose="00020600040101010101"/>
                      </a:endParaRP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9872553"/>
                  </a:ext>
                </a:extLst>
              </a:tr>
              <a:tr h="366993">
                <a:tc>
                  <a:txBody>
                    <a:bodyPr/>
                    <a:lstStyle/>
                    <a:p>
                      <a:pPr algn="l"/>
                      <a:r>
                        <a:rPr lang="en-US" sz="11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value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varchar(255)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阿里巴巴普惠体" panose="00020600040101010101"/>
                        </a:rPr>
                        <a:t>口味值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br>
                        <a:rPr lang="zh-CN" altLang="en-US" sz="11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阿里巴巴普惠体" panose="00020600040101010101"/>
                        </a:rPr>
                      </a:br>
                      <a:endParaRPr lang="zh-CN" altLang="en-US" sz="11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阿里巴巴普惠体" panose="00020600040101010101"/>
                      </a:endParaRP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225066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C91797CC-C10F-6466-E20C-0FCDFCA75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0" y="2165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F7C414-4D79-23BF-1FFD-4994EE5AB003}"/>
              </a:ext>
            </a:extLst>
          </p:cNvPr>
          <p:cNvSpPr/>
          <p:nvPr/>
        </p:nvSpPr>
        <p:spPr>
          <a:xfrm>
            <a:off x="879474" y="2950122"/>
            <a:ext cx="5216524" cy="287067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860BCE-1AC8-A3FC-838C-530784830D71}"/>
              </a:ext>
            </a:extLst>
          </p:cNvPr>
          <p:cNvSpPr/>
          <p:nvPr/>
        </p:nvSpPr>
        <p:spPr>
          <a:xfrm>
            <a:off x="879474" y="3333323"/>
            <a:ext cx="5216524" cy="287067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2D53C7E-DAB4-52CA-FBFA-4C63436066D4}"/>
              </a:ext>
            </a:extLst>
          </p:cNvPr>
          <p:cNvSpPr/>
          <p:nvPr/>
        </p:nvSpPr>
        <p:spPr>
          <a:xfrm>
            <a:off x="879474" y="4838223"/>
            <a:ext cx="5216524" cy="287067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B2DE89-3045-38A8-A6D1-53C92F231C29}"/>
              </a:ext>
            </a:extLst>
          </p:cNvPr>
          <p:cNvSpPr/>
          <p:nvPr/>
        </p:nvSpPr>
        <p:spPr>
          <a:xfrm>
            <a:off x="7216720" y="3043151"/>
            <a:ext cx="4264712" cy="287066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729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08197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新增菜品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09794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需求分析和设计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7075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9944D7-56C6-EED6-8567-E875FB663B7D}"/>
              </a:ext>
            </a:extLst>
          </p:cNvPr>
          <p:cNvSpPr txBox="1"/>
          <p:nvPr/>
        </p:nvSpPr>
        <p:spPr>
          <a:xfrm>
            <a:off x="710565" y="1614970"/>
            <a:ext cx="924052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开发文件上传接口：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2DF75B-1EEC-7625-3515-DFE6213FA1F7}"/>
              </a:ext>
            </a:extLst>
          </p:cNvPr>
          <p:cNvSpPr/>
          <p:nvPr/>
        </p:nvSpPr>
        <p:spPr>
          <a:xfrm>
            <a:off x="790078" y="3052553"/>
            <a:ext cx="1420385" cy="89849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ea typeface="阿里巴巴普惠体" panose="00020600040101010101"/>
              </a:rPr>
              <a:t>浏览器</a:t>
            </a:r>
            <a:endParaRPr lang="zh-CN" altLang="en-US">
              <a:ea typeface="阿里巴巴普惠体" panose="00020600040101010101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42CB48F-0D9F-CA71-601E-F9AA619A0BC8}"/>
              </a:ext>
            </a:extLst>
          </p:cNvPr>
          <p:cNvSpPr/>
          <p:nvPr/>
        </p:nvSpPr>
        <p:spPr>
          <a:xfrm>
            <a:off x="4169382" y="3052552"/>
            <a:ext cx="1420385" cy="89849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ea typeface="阿里巴巴普惠体" panose="00020600040101010101"/>
              </a:rPr>
              <a:t>后端服务</a:t>
            </a:r>
            <a:endParaRPr lang="zh-CN" altLang="en-US">
              <a:ea typeface="阿里巴巴普惠体" panose="00020600040101010101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5C9FEB6-1F51-8F10-2874-C4D2D985090C}"/>
              </a:ext>
            </a:extLst>
          </p:cNvPr>
          <p:cNvSpPr/>
          <p:nvPr/>
        </p:nvSpPr>
        <p:spPr>
          <a:xfrm>
            <a:off x="8240450" y="3052552"/>
            <a:ext cx="1420385" cy="89849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ea typeface="阿里巴巴普惠体" panose="00020600040101010101"/>
              </a:rPr>
              <a:t>阿里云</a:t>
            </a:r>
            <a:r>
              <a:rPr lang="en-US" altLang="zh-CN" sz="1600">
                <a:ea typeface="阿里巴巴普惠体" panose="00020600040101010101"/>
              </a:rPr>
              <a:t>OSS</a:t>
            </a:r>
            <a:endParaRPr lang="zh-CN" altLang="en-US">
              <a:ea typeface="阿里巴巴普惠体" panose="00020600040101010101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DCF4446-E643-DB75-F9C8-D10288BD6805}"/>
              </a:ext>
            </a:extLst>
          </p:cNvPr>
          <p:cNvCxnSpPr/>
          <p:nvPr/>
        </p:nvCxnSpPr>
        <p:spPr>
          <a:xfrm>
            <a:off x="2274073" y="3501800"/>
            <a:ext cx="17810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BB6801D-A664-7B66-85D2-86EB2B87F1C2}"/>
              </a:ext>
            </a:extLst>
          </p:cNvPr>
          <p:cNvCxnSpPr>
            <a:cxnSpLocks/>
          </p:cNvCxnSpPr>
          <p:nvPr/>
        </p:nvCxnSpPr>
        <p:spPr>
          <a:xfrm>
            <a:off x="5677231" y="3501800"/>
            <a:ext cx="2496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729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9944D7-56C6-EED6-8567-E875FB663B7D}"/>
              </a:ext>
            </a:extLst>
          </p:cNvPr>
          <p:cNvSpPr txBox="1"/>
          <p:nvPr/>
        </p:nvSpPr>
        <p:spPr>
          <a:xfrm>
            <a:off x="710565" y="1614970"/>
            <a:ext cx="924052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开发文件上传接口：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114AFF3-7C27-602A-805C-35069D443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883" y="2319110"/>
            <a:ext cx="8865705" cy="1225868"/>
          </a:xfrm>
          <a:prstGeom prst="roundRect">
            <a:avLst>
              <a:gd name="adj" fmla="val 7586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sky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: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alioss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: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endpoint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: oss-cn-beijing.aliyuncs.com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access-key-id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: LTAI5tPeFLzsPPT8gG3LPW64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access-key-secret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: U6k1brOZ8gaOIXv3nXbulGTUzy6Pd7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bucket-name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: sky-itcast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9AF627C0-14AC-FC4F-A9C7-3BD306A14245}"/>
              </a:ext>
            </a:extLst>
          </p:cNvPr>
          <p:cNvSpPr/>
          <p:nvPr/>
        </p:nvSpPr>
        <p:spPr>
          <a:xfrm>
            <a:off x="8046720" y="3205325"/>
            <a:ext cx="1640869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application-dev.yml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4129889-DA5B-C54F-00C8-3BF4E225A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233" y="4293956"/>
            <a:ext cx="8865705" cy="1225868"/>
          </a:xfrm>
          <a:prstGeom prst="roundRect">
            <a:avLst>
              <a:gd name="adj" fmla="val 7586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sky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: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alioss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: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endpoint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: ${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sky.alioss.endpoint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access-key-id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: ${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sky.alioss.access-key-id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access-key-secret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: ${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sky.alioss.access-key-secret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bucket-name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: ${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sky.alioss.bucket-name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475950CB-4DDD-9360-1B24-A59597C526A5}"/>
              </a:ext>
            </a:extLst>
          </p:cNvPr>
          <p:cNvSpPr/>
          <p:nvPr/>
        </p:nvSpPr>
        <p:spPr>
          <a:xfrm>
            <a:off x="8044069" y="5180171"/>
            <a:ext cx="1640869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application.yml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599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9944D7-56C6-EED6-8567-E875FB663B7D}"/>
              </a:ext>
            </a:extLst>
          </p:cNvPr>
          <p:cNvSpPr txBox="1"/>
          <p:nvPr/>
        </p:nvSpPr>
        <p:spPr>
          <a:xfrm>
            <a:off x="710565" y="1614970"/>
            <a:ext cx="924052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开发文件上传接口：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22FA81E-4C09-F7FB-EF0D-713E01D52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883" y="2377511"/>
            <a:ext cx="9318929" cy="4035147"/>
          </a:xfrm>
          <a:prstGeom prst="roundRect">
            <a:avLst>
              <a:gd name="adj" fmla="val 1889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@Configuration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@Slf4j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class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OssConfiguration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通过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spring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管理对象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aliOssProperties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@return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@Bean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@ConditionalOnMissingBean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AliOssUtil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aliOssUtil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AliOssProperties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aliOssProperties) 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.info(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开始创建阿里云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OSS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工具类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..."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return new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AliOssUtil(aliOssProperties.getEndpoint(),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    aliOssProperties.getAccessKeyId(),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    aliOssProperties.getAccessKeySecret(),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    aliOssProperties.getBucketName());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9" name="矩形: 对角圆角 8">
            <a:extLst>
              <a:ext uri="{FF2B5EF4-FFF2-40B4-BE49-F238E27FC236}">
                <a16:creationId xmlns:a16="http://schemas.microsoft.com/office/drawing/2014/main" id="{A322FDF3-E157-A21F-2B69-1E0360CFF6D1}"/>
              </a:ext>
            </a:extLst>
          </p:cNvPr>
          <p:cNvSpPr/>
          <p:nvPr/>
        </p:nvSpPr>
        <p:spPr>
          <a:xfrm>
            <a:off x="8499943" y="6073005"/>
            <a:ext cx="1640869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OssConfiguration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3324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9944D7-56C6-EED6-8567-E875FB663B7D}"/>
              </a:ext>
            </a:extLst>
          </p:cNvPr>
          <p:cNvSpPr txBox="1"/>
          <p:nvPr/>
        </p:nvSpPr>
        <p:spPr>
          <a:xfrm>
            <a:off x="710565" y="1614970"/>
            <a:ext cx="924052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开发文件上传接口：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0DE3C53-BDFC-7E55-1256-368D2B4AE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4780" y="983395"/>
            <a:ext cx="9093393" cy="5376029"/>
          </a:xfrm>
          <a:prstGeom prst="roundRect">
            <a:avLst>
              <a:gd name="adj" fmla="val 1820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@RestController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@RequestMapping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"/admin/common"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@Slf4j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@Api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(tags =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通用接口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CommonController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@Autowired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AliOssUtil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aliOssUtil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/**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*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文件上传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* @param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</a:rPr>
              <a:t>file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* @return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*/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@PostMapping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"/upload"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@ApiOperation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文件上传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upload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MultipartFile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file){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.info(file.getName());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原始文件名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originalFilename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file.getOriginalFilename();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extension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originalFilename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.substring(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originalFilename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.lastIndexOf(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"."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将文件上传的阿里云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fileName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randomUUID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().toString() +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extension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filePath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aliOssUtil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.upload(file.getBytes(),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success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}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IOException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e) {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.error(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文件上传失败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:{}"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e.getMessage());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}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MessageConstant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UPLOAD_FAILED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矩形: 对角圆角 8">
            <a:extLst>
              <a:ext uri="{FF2B5EF4-FFF2-40B4-BE49-F238E27FC236}">
                <a16:creationId xmlns:a16="http://schemas.microsoft.com/office/drawing/2014/main" id="{A322FDF3-E157-A21F-2B69-1E0360CFF6D1}"/>
              </a:ext>
            </a:extLst>
          </p:cNvPr>
          <p:cNvSpPr/>
          <p:nvPr/>
        </p:nvSpPr>
        <p:spPr>
          <a:xfrm>
            <a:off x="10087304" y="6019771"/>
            <a:ext cx="1640869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OssConfiguration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149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9944D7-56C6-EED6-8567-E875FB663B7D}"/>
              </a:ext>
            </a:extLst>
          </p:cNvPr>
          <p:cNvSpPr txBox="1"/>
          <p:nvPr/>
        </p:nvSpPr>
        <p:spPr>
          <a:xfrm>
            <a:off x="710565" y="1614970"/>
            <a:ext cx="924052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开发新增菜品接口：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5FA5813C-8E39-9750-EB43-3B8B0AC7C0E8}"/>
              </a:ext>
            </a:extLst>
          </p:cNvPr>
          <p:cNvSpPr/>
          <p:nvPr/>
        </p:nvSpPr>
        <p:spPr>
          <a:xfrm>
            <a:off x="5167568" y="4149663"/>
            <a:ext cx="872067" cy="269100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4E334AA-3D35-19F2-8A83-3DB17A6CC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41" y="2193762"/>
            <a:ext cx="4056691" cy="4144148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0CB00647-3507-753F-30E0-61A4DA82A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71" y="2663008"/>
            <a:ext cx="4855612" cy="3511510"/>
          </a:xfrm>
          <a:prstGeom prst="roundRect">
            <a:avLst>
              <a:gd name="adj" fmla="val 2479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@Data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class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implements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Serializable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菜品名称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String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name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菜品分类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categoryId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菜品价格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BigDecimal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price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图片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String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image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描述信息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String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description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//0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停售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1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起售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Integer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status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口味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List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DishFlavor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flavors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new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ArrayList&lt;&gt;();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44146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D7DDDC-8CD1-D8ED-598B-D0FE24488581}"/>
              </a:ext>
            </a:extLst>
          </p:cNvPr>
          <p:cNvSpPr txBox="1"/>
          <p:nvPr/>
        </p:nvSpPr>
        <p:spPr>
          <a:xfrm>
            <a:off x="710565" y="1701165"/>
            <a:ext cx="1041273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开发新增菜品接口：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8B2B51C-151A-E131-2410-A4FB0FFFD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64" y="2400878"/>
            <a:ext cx="10698800" cy="4024253"/>
          </a:xfrm>
          <a:prstGeom prst="roundRect">
            <a:avLst>
              <a:gd name="adj" fmla="val 2422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@RestController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@RequestMapping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"/admin/dish"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@Api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(tags 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菜品相关接口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@Slf4j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class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DishController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@Autowired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DishService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dishService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新增菜品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@return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@PostMapping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@ApiOperation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新增菜品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Result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String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</a:t>
            </a:r>
            <a: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save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@RequestBody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dishDTO){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.info(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新增菜品：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{}"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dishDTO);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dishService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.saveWithFlavor(dishDTO);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return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Result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success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}</a:t>
            </a:r>
            <a:endParaRPr kumimoji="0" lang="en-US" altLang="zh-CN" sz="11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7B9C2DBB-FE40-BD5A-5CB1-8C103FB427CD}"/>
              </a:ext>
            </a:extLst>
          </p:cNvPr>
          <p:cNvSpPr/>
          <p:nvPr/>
        </p:nvSpPr>
        <p:spPr>
          <a:xfrm>
            <a:off x="9891995" y="6085478"/>
            <a:ext cx="1640869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DishController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887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D7DDDC-8CD1-D8ED-598B-D0FE24488581}"/>
              </a:ext>
            </a:extLst>
          </p:cNvPr>
          <p:cNvSpPr txBox="1"/>
          <p:nvPr/>
        </p:nvSpPr>
        <p:spPr>
          <a:xfrm>
            <a:off x="710565" y="1701165"/>
            <a:ext cx="1041273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开发新增菜品接口：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843FCBF-1070-D175-7CCE-C442965A3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418" y="2429737"/>
            <a:ext cx="10829677" cy="1600438"/>
          </a:xfrm>
          <a:prstGeom prst="roundRect">
            <a:avLst>
              <a:gd name="adj" fmla="val 6234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interface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DishService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新增菜品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void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saveWithFlavor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dishDTO);</a:t>
            </a:r>
            <a:endParaRPr kumimoji="0" lang="en-US" altLang="zh-CN" sz="11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7B9C2DBB-FE40-BD5A-5CB1-8C103FB427CD}"/>
              </a:ext>
            </a:extLst>
          </p:cNvPr>
          <p:cNvSpPr/>
          <p:nvPr/>
        </p:nvSpPr>
        <p:spPr>
          <a:xfrm>
            <a:off x="10001226" y="3690522"/>
            <a:ext cx="1640869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DishService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987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D7DDDC-8CD1-D8ED-598B-D0FE24488581}"/>
              </a:ext>
            </a:extLst>
          </p:cNvPr>
          <p:cNvSpPr txBox="1"/>
          <p:nvPr/>
        </p:nvSpPr>
        <p:spPr>
          <a:xfrm>
            <a:off x="710565" y="1701165"/>
            <a:ext cx="1041273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开发新增菜品接口：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018A65E-7365-4B41-7D0D-F685A8047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086" y="1175757"/>
            <a:ext cx="8441209" cy="5220653"/>
          </a:xfrm>
          <a:prstGeom prst="roundRect">
            <a:avLst>
              <a:gd name="adj" fmla="val 1829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@Service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DishServiceImpl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implements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DishService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@Autowired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DishMapper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dishMapper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@Autowired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DishFlavorMapper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dishFlavorMapper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/**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*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新增菜品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* @param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</a:rPr>
              <a:t>dishDTO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*/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@Transactional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saveWithFlavor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DishDTO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dishDTO) {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Dish dish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Dish();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BeanUtils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copyProperties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(dishDTO,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向菜品表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插入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条数据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dishMapper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.insert(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获取菜品的主键值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Long dishId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.getId();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DishFlavor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flavors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dishDTO.getFlavors();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flavors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flavors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.size() &gt;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){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向口味表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dish_flavor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插入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条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flavors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.forEach(dishFlavor -&gt; {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    dishFlavor.setDishId(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851691"/>
                </a:solidFill>
                <a:effectLst/>
                <a:latin typeface="Consolas" panose="020B0609020204030204" pitchFamily="49" charset="0"/>
              </a:rPr>
              <a:t>dishId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});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批量插入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dishFlavorMapper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.insertBatch(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flavors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}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endParaRPr kumimoji="0" lang="en-US" altLang="zh-CN" sz="10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7B9C2DBB-FE40-BD5A-5CB1-8C103FB427CD}"/>
              </a:ext>
            </a:extLst>
          </p:cNvPr>
          <p:cNvSpPr/>
          <p:nvPr/>
        </p:nvSpPr>
        <p:spPr>
          <a:xfrm>
            <a:off x="9482426" y="6056757"/>
            <a:ext cx="1640869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DishServiceImpl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35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D7DDDC-8CD1-D8ED-598B-D0FE24488581}"/>
              </a:ext>
            </a:extLst>
          </p:cNvPr>
          <p:cNvSpPr txBox="1"/>
          <p:nvPr/>
        </p:nvSpPr>
        <p:spPr>
          <a:xfrm>
            <a:off x="710565" y="1701165"/>
            <a:ext cx="1041273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开发新增菜品接口：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1B0068A-6B63-4AE0-033E-01B52E623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553" y="2440314"/>
            <a:ext cx="11041463" cy="1172289"/>
          </a:xfrm>
          <a:prstGeom prst="roundRect">
            <a:avLst>
              <a:gd name="adj" fmla="val 9662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插入菜品数据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@AutoFill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OperationType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INSERT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void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insert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dish);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7B9C2DBB-FE40-BD5A-5CB1-8C103FB427CD}"/>
              </a:ext>
            </a:extLst>
          </p:cNvPr>
          <p:cNvSpPr/>
          <p:nvPr/>
        </p:nvSpPr>
        <p:spPr>
          <a:xfrm>
            <a:off x="10208147" y="3272950"/>
            <a:ext cx="1640869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DishMapper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FFF56E1-B6F2-F502-4644-01F5244B4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553" y="4002617"/>
            <a:ext cx="11041463" cy="1836896"/>
          </a:xfrm>
          <a:prstGeom prst="roundRect">
            <a:avLst>
              <a:gd name="adj" fmla="val 6200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&lt;!--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useGeneratedKeys:true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表示获取主键值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keyProperty="id"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表示将主键值赋给</a:t>
            </a:r>
            <a:r>
              <a:rPr kumimoji="0" lang="en-US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id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属性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--&gt;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insert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="insert"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useGeneratedKeys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="true"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keyProperty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="id"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insert into dish </a:t>
            </a:r>
            <a:endParaRPr kumimoji="0" lang="en-US" altLang="zh-CN" sz="11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(status, name, category_id, price, image, description, create_time, update_time, create_user,</a:t>
            </a:r>
            <a: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upd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ate_user)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values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endParaRPr lang="en-US" altLang="zh-CN" sz="110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(#{status}, #{name}, #{categoryId}, #{price}, #{image}, #{description}, #{createTime}, #{updateTime},#{createUser}, #{updateUser})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insert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8" name="矩形: 对角圆角 7">
            <a:extLst>
              <a:ext uri="{FF2B5EF4-FFF2-40B4-BE49-F238E27FC236}">
                <a16:creationId xmlns:a16="http://schemas.microsoft.com/office/drawing/2014/main" id="{F8DE5BA6-D2EB-CF1A-EF37-ACC8A88C449E}"/>
              </a:ext>
            </a:extLst>
          </p:cNvPr>
          <p:cNvSpPr/>
          <p:nvPr/>
        </p:nvSpPr>
        <p:spPr>
          <a:xfrm flipH="1">
            <a:off x="10208146" y="4002617"/>
            <a:ext cx="1640869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DishMapper.xml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253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D7DDDC-8CD1-D8ED-598B-D0FE24488581}"/>
              </a:ext>
            </a:extLst>
          </p:cNvPr>
          <p:cNvSpPr txBox="1"/>
          <p:nvPr/>
        </p:nvSpPr>
        <p:spPr>
          <a:xfrm>
            <a:off x="710565" y="1701165"/>
            <a:ext cx="1041273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开发新增菜品接口：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489B8C1-EF8C-E0BF-0052-FE3EC0993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431" y="2474504"/>
            <a:ext cx="10591137" cy="1787723"/>
          </a:xfrm>
          <a:prstGeom prst="roundRect">
            <a:avLst>
              <a:gd name="adj" fmla="val 5992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@Mapper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interface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DishFlavorMapper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批量插入口味数据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flavors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void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insertBatch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List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DishFlavor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flavors);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7B9C2DBB-FE40-BD5A-5CB1-8C103FB427CD}"/>
              </a:ext>
            </a:extLst>
          </p:cNvPr>
          <p:cNvSpPr/>
          <p:nvPr/>
        </p:nvSpPr>
        <p:spPr>
          <a:xfrm>
            <a:off x="9768811" y="3922574"/>
            <a:ext cx="1640869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DishFlavorMapper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1A0AF5D-7F35-4538-91C8-D07CFBC73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431" y="4887644"/>
            <a:ext cx="10591137" cy="1140143"/>
          </a:xfrm>
          <a:prstGeom prst="roundRect">
            <a:avLst>
              <a:gd name="adj" fmla="val 6289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insert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="insertBatch"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insert into dish_flavor(dish_id, name, value) </a:t>
            </a:r>
            <a: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values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foreach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collection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="flavors"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item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="dishFlavor"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separator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=","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(#{dishFlavor.dishId},#{dishFlavor.name},#{dishFlavor.value})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foreach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insert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10" name="矩形: 对角圆角 9">
            <a:extLst>
              <a:ext uri="{FF2B5EF4-FFF2-40B4-BE49-F238E27FC236}">
                <a16:creationId xmlns:a16="http://schemas.microsoft.com/office/drawing/2014/main" id="{29A2A145-7F4E-C045-9DB8-7AB318C1EAE1}"/>
              </a:ext>
            </a:extLst>
          </p:cNvPr>
          <p:cNvSpPr/>
          <p:nvPr/>
        </p:nvSpPr>
        <p:spPr>
          <a:xfrm>
            <a:off x="9382539" y="5730996"/>
            <a:ext cx="2027141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DishFlavorMapper.xml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3353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08197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新增菜品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09794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需求分析和设计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963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功能测试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18FBF80-CBBF-9BA2-A024-F771F35771EF}"/>
              </a:ext>
            </a:extLst>
          </p:cNvPr>
          <p:cNvSpPr txBox="1"/>
          <p:nvPr/>
        </p:nvSpPr>
        <p:spPr>
          <a:xfrm>
            <a:off x="710564" y="1701165"/>
            <a:ext cx="102368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可以通过接口文档进行测试，也可以进行前后端联调测试</a:t>
            </a:r>
            <a:endParaRPr 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9276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D2954-D48C-E398-816E-76C84B0C87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2027584"/>
            <a:ext cx="5973761" cy="3045348"/>
          </a:xfrm>
        </p:spPr>
        <p:txBody>
          <a:bodyPr/>
          <a:lstStyle/>
          <a:p>
            <a:r>
              <a:rPr lang="zh-CN" altLang="en-US"/>
              <a:t>公共字段自动填充</a:t>
            </a:r>
            <a:endParaRPr lang="en-US" altLang="zh-CN"/>
          </a:p>
          <a:p>
            <a:r>
              <a:rPr lang="zh-CN" altLang="en-US"/>
              <a:t>新增菜品</a:t>
            </a:r>
            <a:endParaRPr lang="en-US" altLang="zh-CN"/>
          </a:p>
          <a:p>
            <a:r>
              <a:rPr lang="zh-CN" altLang="en-US"/>
              <a:t>菜品分页查询</a:t>
            </a:r>
            <a:endParaRPr lang="en-US" altLang="zh-CN"/>
          </a:p>
          <a:p>
            <a:r>
              <a:rPr lang="zh-CN" altLang="en-US"/>
              <a:t>删除菜品</a:t>
            </a:r>
            <a:endParaRPr lang="en-US" altLang="zh-CN"/>
          </a:p>
          <a:p>
            <a:r>
              <a:rPr lang="zh-CN" altLang="en-US"/>
              <a:t>修改菜品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4150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08197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菜品分页查询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1533399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需求分析和设计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520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01878B-9029-776C-8F07-B48ED2D3B2E4}"/>
              </a:ext>
            </a:extLst>
          </p:cNvPr>
          <p:cNvSpPr txBox="1"/>
          <p:nvPr/>
        </p:nvSpPr>
        <p:spPr>
          <a:xfrm>
            <a:off x="794385" y="1607820"/>
            <a:ext cx="104140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产品原型：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91E911D-C77A-4645-DAA2-45600DAF4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965" y="2114409"/>
            <a:ext cx="6590526" cy="4247948"/>
          </a:xfrm>
          <a:prstGeom prst="roundRect">
            <a:avLst>
              <a:gd name="adj" fmla="val 1880"/>
            </a:avLst>
          </a:prstGeom>
          <a:ln w="3175">
            <a:solidFill>
              <a:schemeClr val="tx1"/>
            </a:solidFill>
            <a:prstDash val="lgDash"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5C080AA-B682-67F9-71E1-96FA055483DB}"/>
              </a:ext>
            </a:extLst>
          </p:cNvPr>
          <p:cNvSpPr/>
          <p:nvPr/>
        </p:nvSpPr>
        <p:spPr>
          <a:xfrm>
            <a:off x="2361538" y="2880361"/>
            <a:ext cx="6284953" cy="196793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CC3E52-3CAD-1D40-B26E-710016182F27}"/>
              </a:ext>
            </a:extLst>
          </p:cNvPr>
          <p:cNvSpPr/>
          <p:nvPr/>
        </p:nvSpPr>
        <p:spPr>
          <a:xfrm>
            <a:off x="6281530" y="5982695"/>
            <a:ext cx="2364961" cy="259079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7B31AE4-0148-3DEE-F0EB-F83A378A9C89}"/>
              </a:ext>
            </a:extLst>
          </p:cNvPr>
          <p:cNvSpPr/>
          <p:nvPr/>
        </p:nvSpPr>
        <p:spPr>
          <a:xfrm>
            <a:off x="2156129" y="2194107"/>
            <a:ext cx="4379843" cy="196794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77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8D1087-8E86-2B9B-3C63-77FB83F9E022}"/>
              </a:ext>
            </a:extLst>
          </p:cNvPr>
          <p:cNvSpPr txBox="1"/>
          <p:nvPr/>
        </p:nvSpPr>
        <p:spPr>
          <a:xfrm>
            <a:off x="710565" y="1701165"/>
            <a:ext cx="10299700" cy="1864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业务规则：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根据页码展示菜品信息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每页展示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10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条数据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分页查询时可以根据需要输入菜品名称、菜品分类、菜品状态进行查询</a:t>
            </a:r>
            <a:endParaRPr 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081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01878B-9029-776C-8F07-B48ED2D3B2E4}"/>
              </a:ext>
            </a:extLst>
          </p:cNvPr>
          <p:cNvSpPr txBox="1"/>
          <p:nvPr/>
        </p:nvSpPr>
        <p:spPr>
          <a:xfrm>
            <a:off x="794385" y="1607820"/>
            <a:ext cx="104140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接口设计：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4EC8F8-F7ED-561A-9CF0-5FE5953D2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615" y="2111189"/>
            <a:ext cx="3213265" cy="441982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8DD0832-4BBA-50BF-E1E2-8AB2A4507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715" y="1361850"/>
            <a:ext cx="5543835" cy="516916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19A785A-5539-9261-CE94-12D123B610E2}"/>
              </a:ext>
            </a:extLst>
          </p:cNvPr>
          <p:cNvSpPr/>
          <p:nvPr/>
        </p:nvSpPr>
        <p:spPr>
          <a:xfrm>
            <a:off x="6257676" y="5597719"/>
            <a:ext cx="3498573" cy="182879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169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08197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菜品分页查询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1533399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需求分析和设计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953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5B26A0-CAA9-AFB3-8CCF-2B985C6FE79B}"/>
              </a:ext>
            </a:extLst>
          </p:cNvPr>
          <p:cNvSpPr txBox="1"/>
          <p:nvPr/>
        </p:nvSpPr>
        <p:spPr>
          <a:xfrm>
            <a:off x="710565" y="1519555"/>
            <a:ext cx="924052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根据菜品分页查询接口定义设计对应的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DTO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64BD671-D683-137C-1797-2C48324771A0}"/>
              </a:ext>
            </a:extLst>
          </p:cNvPr>
          <p:cNvSpPr/>
          <p:nvPr/>
        </p:nvSpPr>
        <p:spPr>
          <a:xfrm>
            <a:off x="4534300" y="4393161"/>
            <a:ext cx="745066" cy="296334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CD87A0C-68CB-E7E8-0E72-788FF6F06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467" y="2835202"/>
            <a:ext cx="3238666" cy="2813195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17684D43-6D25-2501-324F-DCE40AE19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2709" y="3118222"/>
            <a:ext cx="4721327" cy="2998768"/>
          </a:xfrm>
          <a:prstGeom prst="roundRect">
            <a:avLst>
              <a:gd name="adj" fmla="val 3259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@Data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class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DishPageQueryDTO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implements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Serializable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int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int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pageSize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endParaRPr kumimoji="0" lang="en-US" altLang="zh-CN" sz="11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i="1">
                <a:solidFill>
                  <a:srgbClr val="8C8C8C"/>
                </a:solidFill>
                <a:latin typeface="Consolas" panose="020B0609020204030204" pitchFamily="49" charset="0"/>
                <a:ea typeface="阿里巴巴普惠体" panose="00020600040101010101"/>
              </a:rPr>
              <a:t>    //</a:t>
            </a:r>
            <a:r>
              <a:rPr lang="zh-CN" altLang="en-US" sz="1100" i="1">
                <a:solidFill>
                  <a:srgbClr val="8C8C8C"/>
                </a:solidFill>
                <a:latin typeface="Consolas" panose="020B0609020204030204" pitchFamily="49" charset="0"/>
                <a:ea typeface="阿里巴巴普惠体" panose="00020600040101010101"/>
              </a:rPr>
              <a:t>菜品名称</a:t>
            </a:r>
            <a:br>
              <a:rPr lang="zh-CN" altLang="zh-CN" sz="1100" i="1">
                <a:solidFill>
                  <a:srgbClr val="8C8C8C"/>
                </a:solidFill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String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name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分类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Integer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categoryId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状态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0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表示禁用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1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表示启用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Integer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status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2053232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9CC9B3-D9F1-F4C0-C320-AEBB38D296B3}"/>
              </a:ext>
            </a:extLst>
          </p:cNvPr>
          <p:cNvSpPr txBox="1"/>
          <p:nvPr/>
        </p:nvSpPr>
        <p:spPr>
          <a:xfrm>
            <a:off x="710565" y="1519555"/>
            <a:ext cx="924052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根据菜品分页查询接口定义设计对应的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VO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D433033-0D8C-AA43-3E31-96C3DE9FCC4C}"/>
              </a:ext>
            </a:extLst>
          </p:cNvPr>
          <p:cNvSpPr/>
          <p:nvPr/>
        </p:nvSpPr>
        <p:spPr>
          <a:xfrm>
            <a:off x="5049587" y="4513549"/>
            <a:ext cx="745066" cy="296334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339D106-CF1A-E084-5341-02C6504B5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05" y="2328105"/>
            <a:ext cx="4078962" cy="3748979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A08312CC-AB48-9232-41CA-5D4C368A0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9" y="2426048"/>
            <a:ext cx="4710545" cy="4024253"/>
          </a:xfrm>
          <a:prstGeom prst="roundRect">
            <a:avLst>
              <a:gd name="adj" fmla="val 1768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class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DishVO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implements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Serializable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菜品名称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String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name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菜品分类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categoryId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菜品价格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BigDecimal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price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图片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String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image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描述信息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String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description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//0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停售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1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起售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Integer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status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更新时间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LocalDateTime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updateTime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分类名称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String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categoryName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菜品关联的口味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List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DishFlavor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flavors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new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ArrayList&lt;&gt;();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24770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180F79-0591-E8F7-301C-5E440FE3F76E}"/>
              </a:ext>
            </a:extLst>
          </p:cNvPr>
          <p:cNvSpPr txBox="1"/>
          <p:nvPr/>
        </p:nvSpPr>
        <p:spPr>
          <a:xfrm>
            <a:off x="710565" y="1701165"/>
            <a:ext cx="1041273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根据接口定义创建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DishController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page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分页查询方法：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97342DD-E1B0-489F-D692-6C7D26CBA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933" y="2676613"/>
            <a:ext cx="9891424" cy="2164735"/>
          </a:xfrm>
          <a:prstGeom prst="roundRect">
            <a:avLst>
              <a:gd name="adj" fmla="val 4484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菜品分页查询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dishPageQueryDTO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@return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@GetMapping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"/page"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@ApiOperation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菜品分页查询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Result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PageResult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DishPageQueryDTO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dishPageQueryDTO){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.info(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菜品分页查询：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{}"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dishPageQueryDTO);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PageResult pageResult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dishService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.pageQuery(dishPageQueryDTO);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return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Result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success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pageResult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EB32D77D-0D39-0EE7-7D3D-22FB5ADA36C7}"/>
              </a:ext>
            </a:extLst>
          </p:cNvPr>
          <p:cNvSpPr/>
          <p:nvPr/>
        </p:nvSpPr>
        <p:spPr>
          <a:xfrm>
            <a:off x="9077488" y="4501695"/>
            <a:ext cx="1640869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DishController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780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0D6D0A-A56D-D369-2EEE-6205D2F85D6F}"/>
              </a:ext>
            </a:extLst>
          </p:cNvPr>
          <p:cNvSpPr txBox="1"/>
          <p:nvPr/>
        </p:nvSpPr>
        <p:spPr>
          <a:xfrm>
            <a:off x="794385" y="1558290"/>
            <a:ext cx="1005713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在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DishService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中扩展分页查询方法：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17611B5-FEB8-706B-ACA3-0EE724225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531" y="2341407"/>
            <a:ext cx="9704590" cy="1183005"/>
          </a:xfrm>
          <a:prstGeom prst="roundRect">
            <a:avLst>
              <a:gd name="adj" fmla="val 10971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菜品分页查询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dishPageQueryDTO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@return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PageResult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pageQuery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DishPageQueryDTO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dishPageQueryDTO);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9" name="矩形: 对角圆角 8">
            <a:extLst>
              <a:ext uri="{FF2B5EF4-FFF2-40B4-BE49-F238E27FC236}">
                <a16:creationId xmlns:a16="http://schemas.microsoft.com/office/drawing/2014/main" id="{42DCF982-CCCD-4D78-08BA-DB10CD766850}"/>
              </a:ext>
            </a:extLst>
          </p:cNvPr>
          <p:cNvSpPr/>
          <p:nvPr/>
        </p:nvSpPr>
        <p:spPr>
          <a:xfrm>
            <a:off x="8997252" y="3184759"/>
            <a:ext cx="1640869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DishService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6046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0D6D0A-A56D-D369-2EEE-6205D2F85D6F}"/>
              </a:ext>
            </a:extLst>
          </p:cNvPr>
          <p:cNvSpPr txBox="1"/>
          <p:nvPr/>
        </p:nvSpPr>
        <p:spPr>
          <a:xfrm>
            <a:off x="794385" y="1558290"/>
            <a:ext cx="1005713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在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DishServiceImpl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中实现分页查询方法：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1BA14A8-56D4-6662-8353-4494D9DEB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701" y="2302415"/>
            <a:ext cx="10057130" cy="1854160"/>
          </a:xfrm>
          <a:prstGeom prst="roundRect">
            <a:avLst>
              <a:gd name="adj" fmla="val 6495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菜品分页查询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dishPageQueryDTO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@return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PageResult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pageQuery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DishPageQueryDTO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dishPageQueryDTO) 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PageHelper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startPage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(dishPageQueryDTO.getPage(), dishPageQueryDTO.getPageSize());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DishVO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dishMapper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.pageQuery(dishPageQueryDTO);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return new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PageResult(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.getTotal(),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.getResult());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9" name="矩形: 对角圆角 8">
            <a:extLst>
              <a:ext uri="{FF2B5EF4-FFF2-40B4-BE49-F238E27FC236}">
                <a16:creationId xmlns:a16="http://schemas.microsoft.com/office/drawing/2014/main" id="{42DCF982-CCCD-4D78-08BA-DB10CD766850}"/>
              </a:ext>
            </a:extLst>
          </p:cNvPr>
          <p:cNvSpPr/>
          <p:nvPr/>
        </p:nvSpPr>
        <p:spPr>
          <a:xfrm>
            <a:off x="9330962" y="3816922"/>
            <a:ext cx="1640869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DishServiceImpl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367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EE597C-E90A-AE0A-ECA9-512FF41A1355}"/>
              </a:ext>
            </a:extLst>
          </p:cNvPr>
          <p:cNvSpPr txBox="1"/>
          <p:nvPr/>
        </p:nvSpPr>
        <p:spPr>
          <a:xfrm>
            <a:off x="794385" y="1533525"/>
            <a:ext cx="1005713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DishMapper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接口中声明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pageQuery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038B9D-99B2-977D-B374-F96D278BD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452" y="2382721"/>
            <a:ext cx="9912063" cy="1225868"/>
          </a:xfrm>
          <a:prstGeom prst="roundRect">
            <a:avLst>
              <a:gd name="adj" fmla="val 7586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菜品分页查询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dishPageQueryDTO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@return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DishVO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pageQuery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DishPageQueryDTO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dishPageQueryDTO);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3" name="矩形: 对角圆角 2">
            <a:extLst>
              <a:ext uri="{FF2B5EF4-FFF2-40B4-BE49-F238E27FC236}">
                <a16:creationId xmlns:a16="http://schemas.microsoft.com/office/drawing/2014/main" id="{F036145E-2F6A-9EBF-09E7-A653DD4C5C1F}"/>
              </a:ext>
            </a:extLst>
          </p:cNvPr>
          <p:cNvSpPr/>
          <p:nvPr/>
        </p:nvSpPr>
        <p:spPr>
          <a:xfrm>
            <a:off x="9210646" y="3268936"/>
            <a:ext cx="1640869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DishMapper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416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0D6D0A-A56D-D369-2EEE-6205D2F85D6F}"/>
              </a:ext>
            </a:extLst>
          </p:cNvPr>
          <p:cNvSpPr txBox="1"/>
          <p:nvPr/>
        </p:nvSpPr>
        <p:spPr>
          <a:xfrm>
            <a:off x="794385" y="1558290"/>
            <a:ext cx="1005713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在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DishMapper.xml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中编写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SQL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A68EF6E-C2A7-D5CD-8A7A-E91B5B4E9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704" y="2388275"/>
            <a:ext cx="8681499" cy="2911435"/>
          </a:xfrm>
          <a:prstGeom prst="roundRect">
            <a:avLst>
              <a:gd name="adj" fmla="val 3558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select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="pageQuery"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resultType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="com.sky.vo.DishVO"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select d.*,c.name categoryName from dish d left join category c on d.category_id = c.id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where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test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="name != null"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and d.name like concat('%',#{name},'%')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test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="categoryId != null"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and d.category_id = #{categoryId}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test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="status != null"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and d.status = #{status}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where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order by d.create_time desc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select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81DF9109-D781-DC21-D844-206D86E5CF69}"/>
              </a:ext>
            </a:extLst>
          </p:cNvPr>
          <p:cNvSpPr/>
          <p:nvPr/>
        </p:nvSpPr>
        <p:spPr>
          <a:xfrm>
            <a:off x="7647090" y="4960057"/>
            <a:ext cx="1940113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DishMapper.xml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453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08197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菜品分页查询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1533399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需求分析和设计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756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阿里巴巴普惠体" panose="00020600040101010101"/>
              </a:rPr>
              <a:t>功能测试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A5EAD2-11EC-B6C3-6EA2-137477668613}"/>
              </a:ext>
            </a:extLst>
          </p:cNvPr>
          <p:cNvSpPr txBox="1"/>
          <p:nvPr/>
        </p:nvSpPr>
        <p:spPr>
          <a:xfrm>
            <a:off x="794385" y="1607820"/>
            <a:ext cx="1109154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可以通过接口文档进行测试，最后完成前后端联调测试即可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360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D2954-D48C-E398-816E-76C84B0C87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2027584"/>
            <a:ext cx="5973761" cy="3045348"/>
          </a:xfrm>
        </p:spPr>
        <p:txBody>
          <a:bodyPr/>
          <a:lstStyle/>
          <a:p>
            <a:r>
              <a:rPr lang="zh-CN" altLang="en-US"/>
              <a:t>公共字段自动填充</a:t>
            </a:r>
            <a:endParaRPr lang="en-US" altLang="zh-CN"/>
          </a:p>
          <a:p>
            <a:r>
              <a:rPr lang="zh-CN" altLang="en-US"/>
              <a:t>新增菜品</a:t>
            </a:r>
            <a:endParaRPr lang="en-US" altLang="zh-CN"/>
          </a:p>
          <a:p>
            <a:r>
              <a:rPr lang="zh-CN" altLang="en-US"/>
              <a:t>菜品分页查询</a:t>
            </a:r>
            <a:endParaRPr lang="en-US" altLang="zh-CN"/>
          </a:p>
          <a:p>
            <a:r>
              <a:rPr lang="zh-CN" altLang="en-US"/>
              <a:t>删除菜品</a:t>
            </a:r>
            <a:endParaRPr lang="en-US" altLang="zh-CN"/>
          </a:p>
          <a:p>
            <a:r>
              <a:rPr lang="zh-CN" altLang="en-US"/>
              <a:t>修改菜品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374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08197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删除菜品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1533399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需求分析和设计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33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14E113-2883-33CD-67C3-1DB2E1C4A796}"/>
              </a:ext>
            </a:extLst>
          </p:cNvPr>
          <p:cNvSpPr txBox="1"/>
          <p:nvPr/>
        </p:nvSpPr>
        <p:spPr>
          <a:xfrm>
            <a:off x="794385" y="1607820"/>
            <a:ext cx="1005713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产品原型：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6222CE-DEF0-C90C-5D84-AF97BC49C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50" y="2321143"/>
            <a:ext cx="8123705" cy="4183347"/>
          </a:xfrm>
          <a:prstGeom prst="roundRect">
            <a:avLst>
              <a:gd name="adj" fmla="val 1651"/>
            </a:avLst>
          </a:prstGeom>
          <a:ln w="3175">
            <a:solidFill>
              <a:schemeClr val="tx1"/>
            </a:solidFill>
            <a:prstDash val="lgDash"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C65353E-5F95-C4F9-0648-4F9384DF89CA}"/>
              </a:ext>
            </a:extLst>
          </p:cNvPr>
          <p:cNvSpPr/>
          <p:nvPr/>
        </p:nvSpPr>
        <p:spPr>
          <a:xfrm>
            <a:off x="8762337" y="3526771"/>
            <a:ext cx="230588" cy="2854517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0B352C-00F7-2559-FFFE-E0969086793B}"/>
              </a:ext>
            </a:extLst>
          </p:cNvPr>
          <p:cNvSpPr/>
          <p:nvPr/>
        </p:nvSpPr>
        <p:spPr>
          <a:xfrm>
            <a:off x="8006963" y="2780674"/>
            <a:ext cx="516835" cy="205409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72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22C092-A22F-1462-8874-B047223CE233}"/>
              </a:ext>
            </a:extLst>
          </p:cNvPr>
          <p:cNvSpPr txBox="1"/>
          <p:nvPr/>
        </p:nvSpPr>
        <p:spPr>
          <a:xfrm>
            <a:off x="710565" y="1701165"/>
            <a:ext cx="10299700" cy="2357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业务规则：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可以一次删除一个菜品，也可以批量删除菜品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起售中的菜品不能删除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被套餐关联的菜品不能删除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删除菜品后，关联的口味数据也需要删除掉</a:t>
            </a:r>
            <a:endParaRPr 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173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22C092-A22F-1462-8874-B047223CE233}"/>
              </a:ext>
            </a:extLst>
          </p:cNvPr>
          <p:cNvSpPr txBox="1"/>
          <p:nvPr/>
        </p:nvSpPr>
        <p:spPr>
          <a:xfrm>
            <a:off x="710565" y="1701165"/>
            <a:ext cx="102997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接口设计：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A2834E8-7B35-1063-CE86-32756DFE6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682" y="4047066"/>
            <a:ext cx="4070372" cy="21105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C703EE4-33A2-B57F-342A-F92B454C6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11" y="2516634"/>
            <a:ext cx="3996356" cy="37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83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22C092-A22F-1462-8874-B047223CE233}"/>
              </a:ext>
            </a:extLst>
          </p:cNvPr>
          <p:cNvSpPr txBox="1"/>
          <p:nvPr/>
        </p:nvSpPr>
        <p:spPr>
          <a:xfrm>
            <a:off x="710565" y="1701165"/>
            <a:ext cx="102997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数据库设计：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40B2407-B577-01B2-4D83-C9441D123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344" y="2210849"/>
            <a:ext cx="7845877" cy="440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34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08197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删除菜品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1533399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需求分析和设计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9803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662780-31F5-49DF-B0E7-A88FF0CC3C31}"/>
              </a:ext>
            </a:extLst>
          </p:cNvPr>
          <p:cNvSpPr txBox="1"/>
          <p:nvPr/>
        </p:nvSpPr>
        <p:spPr>
          <a:xfrm>
            <a:off x="710565" y="1519555"/>
            <a:ext cx="924052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根据删除菜品的接口定义在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DishController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中创建方法：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A4041C9-3A62-43CA-B7D3-C546B745E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88" y="2346632"/>
            <a:ext cx="9128097" cy="2164735"/>
          </a:xfrm>
          <a:prstGeom prst="roundRect">
            <a:avLst>
              <a:gd name="adj" fmla="val 4408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菜品批量删除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ids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@return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@DeleteMapping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@ApiOperation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菜品批量删除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Result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delete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@RequestParam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List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ids){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.info(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菜品批量删除：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{}"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ids);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dishService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.deleteBatch(ids);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return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Result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success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8" name="矩形: 对角圆角 7">
            <a:extLst>
              <a:ext uri="{FF2B5EF4-FFF2-40B4-BE49-F238E27FC236}">
                <a16:creationId xmlns:a16="http://schemas.microsoft.com/office/drawing/2014/main" id="{D791C3A3-8ACB-A608-ED80-89B2D50883B0}"/>
              </a:ext>
            </a:extLst>
          </p:cNvPr>
          <p:cNvSpPr/>
          <p:nvPr/>
        </p:nvSpPr>
        <p:spPr>
          <a:xfrm>
            <a:off x="8010972" y="4171714"/>
            <a:ext cx="1940113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DishController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2842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85764D-F02F-D2AE-0155-CF7DEC052536}"/>
              </a:ext>
            </a:extLst>
          </p:cNvPr>
          <p:cNvSpPr txBox="1"/>
          <p:nvPr/>
        </p:nvSpPr>
        <p:spPr>
          <a:xfrm>
            <a:off x="710565" y="1519555"/>
            <a:ext cx="924052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DishService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接口中声明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deleteBatch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方法：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F6FB4C5-B089-0DEC-289B-F06E671BD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84" y="2390418"/>
            <a:ext cx="9724445" cy="1038582"/>
          </a:xfrm>
          <a:prstGeom prst="roundRect">
            <a:avLst>
              <a:gd name="adj" fmla="val 9011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菜品批量删除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ids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void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deleteBatch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List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ids);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33551C58-01F4-B1A3-CA8E-89D28B1ADE8E}"/>
              </a:ext>
            </a:extLst>
          </p:cNvPr>
          <p:cNvSpPr/>
          <p:nvPr/>
        </p:nvSpPr>
        <p:spPr>
          <a:xfrm>
            <a:off x="9072438" y="3089347"/>
            <a:ext cx="1470991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DishService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933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B1B7B6-046F-4E44-F30D-47978C8509FE}"/>
              </a:ext>
            </a:extLst>
          </p:cNvPr>
          <p:cNvSpPr txBox="1"/>
          <p:nvPr/>
        </p:nvSpPr>
        <p:spPr>
          <a:xfrm>
            <a:off x="710565" y="1519555"/>
            <a:ext cx="924052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DishServiceImpl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中实现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deleteBatch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方法：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42894A1-F5AA-5612-F7BD-0891C9AC6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882" y="2018910"/>
            <a:ext cx="10794972" cy="4536996"/>
          </a:xfrm>
          <a:prstGeom prst="roundRect">
            <a:avLst>
              <a:gd name="adj" fmla="val 1793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@Transactional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void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deleteBatch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List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ids) 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ids.forEach(id-&gt;{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 dish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dishMapper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.getById(id);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判断当前要删除的菜品状态是否为起售中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.getStatus() ==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StatusConstant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ENABLE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如果是起售中，抛出业务异常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throw new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DeletionNotAllowedException(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MessageConstant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DISH_ON_SALE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});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判断当前要删除的菜品是否被套餐关联了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List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setmealIds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setmealDishMapper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.getSetmealIdsByDishIds(ids);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setmealIds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!=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null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&amp;&amp;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setmealIds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.size() &gt;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0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如果关联了，抛出业务异常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throw new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DeletionNotAllowedException(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MessageConstant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DISH_BE_RELATED_BY_SETMEAL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删除菜品表中的数据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ids.forEach(id -&gt; 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dishMapper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.deleteById(id);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</a:t>
            </a:r>
            <a: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删除口味表中的数据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dishFlavorMapper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.deleteByDishId(id);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});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1E73B633-7CB3-8CF6-70D6-C11CCA3C9F2A}"/>
              </a:ext>
            </a:extLst>
          </p:cNvPr>
          <p:cNvSpPr/>
          <p:nvPr/>
        </p:nvSpPr>
        <p:spPr>
          <a:xfrm>
            <a:off x="10034546" y="6216253"/>
            <a:ext cx="1582308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DishServiceImpl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403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C69CD4-E09E-641E-1670-08099F57F2B6}"/>
              </a:ext>
            </a:extLst>
          </p:cNvPr>
          <p:cNvSpPr txBox="1"/>
          <p:nvPr/>
        </p:nvSpPr>
        <p:spPr>
          <a:xfrm>
            <a:off x="710565" y="1519555"/>
            <a:ext cx="924052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DishMapper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中声明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getById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方法，并配置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SQL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6F9F040-BFC9-9780-071C-A76676C8A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839" y="2320883"/>
            <a:ext cx="9240520" cy="1413153"/>
          </a:xfrm>
          <a:prstGeom prst="roundRect">
            <a:avLst>
              <a:gd name="adj" fmla="val 5414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根据主键查询菜品数据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@return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@Select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"select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from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where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#{id}"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getById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id);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8" name="矩形: 对角圆角 7">
            <a:extLst>
              <a:ext uri="{FF2B5EF4-FFF2-40B4-BE49-F238E27FC236}">
                <a16:creationId xmlns:a16="http://schemas.microsoft.com/office/drawing/2014/main" id="{8B10CE9D-A39D-ADF8-878F-DD10D45813BB}"/>
              </a:ext>
            </a:extLst>
          </p:cNvPr>
          <p:cNvSpPr/>
          <p:nvPr/>
        </p:nvSpPr>
        <p:spPr>
          <a:xfrm>
            <a:off x="8574681" y="3394383"/>
            <a:ext cx="1508678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DishMapper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324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E79331-7147-4332-DFCA-8699F2ACE236}"/>
              </a:ext>
            </a:extLst>
          </p:cNvPr>
          <p:cNvSpPr txBox="1"/>
          <p:nvPr/>
        </p:nvSpPr>
        <p:spPr>
          <a:xfrm>
            <a:off x="710565" y="1519555"/>
            <a:ext cx="924052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创建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SetmealDishMapper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，声明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getSetmealIdsByDishIds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方法，并在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xml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文件中编写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SQL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13EE4BA-51C3-9B37-FDDB-E73863EE2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743" y="2242716"/>
            <a:ext cx="8555603" cy="1975009"/>
          </a:xfrm>
          <a:prstGeom prst="roundRect">
            <a:avLst>
              <a:gd name="adj" fmla="val 4187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@Mapper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interface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SetmealDishMapper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根据菜品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查询关联的套餐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ids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@return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List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getSetmealIdsByDishIds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List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ids);</a:t>
            </a:r>
            <a:endParaRPr kumimoji="0" lang="en-US" altLang="zh-CN" sz="11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F9209468-2838-2438-6B25-5B98687C93D2}"/>
              </a:ext>
            </a:extLst>
          </p:cNvPr>
          <p:cNvSpPr/>
          <p:nvPr/>
        </p:nvSpPr>
        <p:spPr>
          <a:xfrm>
            <a:off x="7474233" y="3878072"/>
            <a:ext cx="1940113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SetmealDishMapper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792E65F-AB03-FB34-A29E-82D0941D5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743" y="4778483"/>
            <a:ext cx="8555603" cy="1225868"/>
          </a:xfrm>
          <a:prstGeom prst="roundRect">
            <a:avLst>
              <a:gd name="adj" fmla="val 8235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select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="getSetmealIdsByDishIds"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resultType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="java.lang.Long"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select setmeal_id from setmeal_dish where dish_id in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foreach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collection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="ids"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separator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=","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open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="("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close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=")"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item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="dishId"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#{dishId}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foreach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select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10" name="矩形: 对角圆角 9">
            <a:extLst>
              <a:ext uri="{FF2B5EF4-FFF2-40B4-BE49-F238E27FC236}">
                <a16:creationId xmlns:a16="http://schemas.microsoft.com/office/drawing/2014/main" id="{60225285-EFF2-BAC7-E1FD-EE9A7C793AAC}"/>
              </a:ext>
            </a:extLst>
          </p:cNvPr>
          <p:cNvSpPr/>
          <p:nvPr/>
        </p:nvSpPr>
        <p:spPr>
          <a:xfrm>
            <a:off x="7378810" y="5683254"/>
            <a:ext cx="2035535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SetmealDishMapper.xml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838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0B4FB0-BA6C-2A62-AD45-579C2A605E2D}"/>
              </a:ext>
            </a:extLst>
          </p:cNvPr>
          <p:cNvSpPr txBox="1"/>
          <p:nvPr/>
        </p:nvSpPr>
        <p:spPr>
          <a:xfrm>
            <a:off x="710565" y="1519555"/>
            <a:ext cx="924052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DishMapper.xml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中声明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deleteById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方法并配置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SQL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80ACB77-977A-B7F3-F7F6-7B650CEF3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396" y="2350939"/>
            <a:ext cx="9695230" cy="1225868"/>
          </a:xfrm>
          <a:prstGeom prst="roundRect">
            <a:avLst>
              <a:gd name="adj" fmla="val 6938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根据主键删除菜品数据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@Delete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"delete from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where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#{id}"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void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deleteById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id);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4EFF2505-8464-6AC1-00E1-1C24D1181532}"/>
              </a:ext>
            </a:extLst>
          </p:cNvPr>
          <p:cNvSpPr/>
          <p:nvPr/>
        </p:nvSpPr>
        <p:spPr>
          <a:xfrm>
            <a:off x="9191708" y="3237154"/>
            <a:ext cx="1319918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DishMapper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9788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2ECB5E-D490-417E-413B-2ECF029670BA}"/>
              </a:ext>
            </a:extLst>
          </p:cNvPr>
          <p:cNvSpPr txBox="1"/>
          <p:nvPr/>
        </p:nvSpPr>
        <p:spPr>
          <a:xfrm>
            <a:off x="710565" y="1519555"/>
            <a:ext cx="924052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DishFlavorMapper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中声明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deleteByDishId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方法并配置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SQL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1A16C5E-1101-E9D6-723A-167D8D901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785" y="2386696"/>
            <a:ext cx="10201523" cy="1225868"/>
          </a:xfrm>
          <a:prstGeom prst="roundRect">
            <a:avLst>
              <a:gd name="adj" fmla="val 6289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根据菜品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删除口味数据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dishId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@Delete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"delete from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dish_flavor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where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dish_id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#{dishId}"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void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deleteByDishId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dishId);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D3923AB6-9660-FE9E-E3EC-7724EE8687B6}"/>
              </a:ext>
            </a:extLst>
          </p:cNvPr>
          <p:cNvSpPr/>
          <p:nvPr/>
        </p:nvSpPr>
        <p:spPr>
          <a:xfrm>
            <a:off x="9099195" y="3272911"/>
            <a:ext cx="1940113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DishFlavorMapper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823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081975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删除菜品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1533399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需求分析和设计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4570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功能测试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5BECA4-4ED2-7D55-252E-6BF8415DCC95}"/>
              </a:ext>
            </a:extLst>
          </p:cNvPr>
          <p:cNvSpPr txBox="1"/>
          <p:nvPr/>
        </p:nvSpPr>
        <p:spPr>
          <a:xfrm>
            <a:off x="794385" y="1607820"/>
            <a:ext cx="1005713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Swagger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接口文档进行测试，通过后再前后端联调测试即可</a:t>
            </a:r>
            <a:endParaRPr 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495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D2954-D48C-E398-816E-76C84B0C87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2027584"/>
            <a:ext cx="5973761" cy="3045348"/>
          </a:xfrm>
        </p:spPr>
        <p:txBody>
          <a:bodyPr/>
          <a:lstStyle/>
          <a:p>
            <a:r>
              <a:rPr lang="zh-CN" altLang="en-US"/>
              <a:t>公共字段自动填充</a:t>
            </a:r>
            <a:endParaRPr lang="en-US" altLang="zh-CN"/>
          </a:p>
          <a:p>
            <a:r>
              <a:rPr lang="zh-CN" altLang="en-US"/>
              <a:t>新增菜品</a:t>
            </a:r>
            <a:endParaRPr lang="en-US" altLang="zh-CN"/>
          </a:p>
          <a:p>
            <a:r>
              <a:rPr lang="zh-CN" altLang="en-US"/>
              <a:t>菜品分页查询</a:t>
            </a:r>
            <a:endParaRPr lang="en-US" altLang="zh-CN"/>
          </a:p>
          <a:p>
            <a:r>
              <a:rPr lang="zh-CN" altLang="en-US"/>
              <a:t>删除菜品</a:t>
            </a:r>
            <a:endParaRPr lang="en-US" altLang="zh-CN"/>
          </a:p>
          <a:p>
            <a:r>
              <a:rPr lang="zh-CN" altLang="en-US"/>
              <a:t>修改菜品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045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984983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修改菜品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1533399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需求分析和设计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865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2241D0-AF3E-9A32-461F-CC7EAF710CE6}"/>
              </a:ext>
            </a:extLst>
          </p:cNvPr>
          <p:cNvSpPr txBox="1"/>
          <p:nvPr/>
        </p:nvSpPr>
        <p:spPr>
          <a:xfrm>
            <a:off x="710565" y="1671955"/>
            <a:ext cx="1104116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产品原型：</a:t>
            </a:r>
            <a:endParaRPr 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5C83472-4ECB-D48C-0A97-89581CB81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267" y="1881050"/>
            <a:ext cx="6845652" cy="4699242"/>
          </a:xfrm>
          <a:prstGeom prst="roundRect">
            <a:avLst>
              <a:gd name="adj" fmla="val 1439"/>
            </a:avLst>
          </a:prstGeom>
          <a:ln w="3175">
            <a:solidFill>
              <a:schemeClr val="tx1"/>
            </a:solidFill>
            <a:prstDash val="lgDash"/>
          </a:ln>
        </p:spPr>
      </p:pic>
    </p:spTree>
    <p:extLst>
      <p:ext uri="{BB962C8B-B14F-4D97-AF65-F5344CB8AC3E}">
        <p14:creationId xmlns:p14="http://schemas.microsoft.com/office/powerpoint/2010/main" val="193542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2241D0-AF3E-9A32-461F-CC7EAF710CE6}"/>
              </a:ext>
            </a:extLst>
          </p:cNvPr>
          <p:cNvSpPr txBox="1"/>
          <p:nvPr/>
        </p:nvSpPr>
        <p:spPr>
          <a:xfrm>
            <a:off x="710565" y="1671955"/>
            <a:ext cx="11041168" cy="2357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接口设计：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根据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id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查询菜品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根据类型查询分类（已实现）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文件上传（已实现）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修改菜品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1C790E7-CE20-C83F-D499-59E2E1806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457" y="2090146"/>
            <a:ext cx="6462801" cy="4436432"/>
          </a:xfrm>
          <a:prstGeom prst="roundRect">
            <a:avLst>
              <a:gd name="adj" fmla="val 1439"/>
            </a:avLst>
          </a:prstGeom>
          <a:ln w="3175">
            <a:solidFill>
              <a:schemeClr val="tx1"/>
            </a:solidFill>
            <a:prstDash val="lgDash"/>
          </a:ln>
        </p:spPr>
      </p:pic>
    </p:spTree>
    <p:extLst>
      <p:ext uri="{BB962C8B-B14F-4D97-AF65-F5344CB8AC3E}">
        <p14:creationId xmlns:p14="http://schemas.microsoft.com/office/powerpoint/2010/main" val="93880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2241D0-AF3E-9A32-461F-CC7EAF710CE6}"/>
              </a:ext>
            </a:extLst>
          </p:cNvPr>
          <p:cNvSpPr txBox="1"/>
          <p:nvPr/>
        </p:nvSpPr>
        <p:spPr>
          <a:xfrm>
            <a:off x="710565" y="1671955"/>
            <a:ext cx="11041168" cy="87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接口设计：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根据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id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查询菜品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A16E87-A51A-7324-5583-CB2958FD6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125" y="940077"/>
            <a:ext cx="4977863" cy="579945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AA85356-B8F3-A66F-40A9-8C24C7DAA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189" y="3152092"/>
            <a:ext cx="1908220" cy="351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1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2241D0-AF3E-9A32-461F-CC7EAF710CE6}"/>
              </a:ext>
            </a:extLst>
          </p:cNvPr>
          <p:cNvSpPr txBox="1"/>
          <p:nvPr/>
        </p:nvSpPr>
        <p:spPr>
          <a:xfrm>
            <a:off x="710565" y="1671955"/>
            <a:ext cx="11041168" cy="87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接口设计：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修改菜品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7AF5440-CBEE-A2D7-F48C-61FA85554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94" y="3593128"/>
            <a:ext cx="3490424" cy="289239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673BD42-B31D-36AF-880C-0A8A3C553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578" y="2066925"/>
            <a:ext cx="4169254" cy="44185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38ECBAA-F722-FA8C-551E-B2F7706FB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6292" y="4828686"/>
            <a:ext cx="3182176" cy="165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302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563564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修改菜品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1533399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需求分析和设计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075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DF585E-8556-7C44-5D02-6C2D6644B0EE}"/>
              </a:ext>
            </a:extLst>
          </p:cNvPr>
          <p:cNvSpPr txBox="1"/>
          <p:nvPr/>
        </p:nvSpPr>
        <p:spPr>
          <a:xfrm>
            <a:off x="710565" y="1671955"/>
            <a:ext cx="1104116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根据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id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查询菜品 接口开发：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1DDFB21-70B1-D411-A536-AF4B4BBA3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78" y="2519184"/>
            <a:ext cx="9626131" cy="1819632"/>
          </a:xfrm>
          <a:prstGeom prst="roundRect">
            <a:avLst>
              <a:gd name="adj" fmla="val 3784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根据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查询菜品和关联的口味数据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@return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@GetMapping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"/{id}"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@ApiOperation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根据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查询菜品和关联的口味数据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Result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DishVO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getById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@PathVariable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id){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return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Result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success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dishService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.getByIdWithFlavor(id));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187D5C30-8442-EAB3-1477-9F7C0C1015D8}"/>
              </a:ext>
            </a:extLst>
          </p:cNvPr>
          <p:cNvSpPr/>
          <p:nvPr/>
        </p:nvSpPr>
        <p:spPr>
          <a:xfrm>
            <a:off x="8865704" y="3999163"/>
            <a:ext cx="1550505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DishController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760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DF585E-8556-7C44-5D02-6C2D6644B0EE}"/>
              </a:ext>
            </a:extLst>
          </p:cNvPr>
          <p:cNvSpPr txBox="1"/>
          <p:nvPr/>
        </p:nvSpPr>
        <p:spPr>
          <a:xfrm>
            <a:off x="710565" y="1671955"/>
            <a:ext cx="1104116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根据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id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查询菜品 接口开发：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7F8033-7FB5-D804-0C0A-EE94684CD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787" y="2517893"/>
            <a:ext cx="9610228" cy="1225868"/>
          </a:xfrm>
          <a:prstGeom prst="roundRect">
            <a:avLst>
              <a:gd name="adj" fmla="val 7586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根据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查询菜品和关联的口味数据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@return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DishVO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getByIdWithFlavor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id);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6" name="矩形: 对角圆角 5">
            <a:extLst>
              <a:ext uri="{FF2B5EF4-FFF2-40B4-BE49-F238E27FC236}">
                <a16:creationId xmlns:a16="http://schemas.microsoft.com/office/drawing/2014/main" id="{DB6DD3C5-443B-96A4-24BC-7AB9C8341A70}"/>
              </a:ext>
            </a:extLst>
          </p:cNvPr>
          <p:cNvSpPr/>
          <p:nvPr/>
        </p:nvSpPr>
        <p:spPr>
          <a:xfrm>
            <a:off x="9080390" y="3404108"/>
            <a:ext cx="1367625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DishService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8782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DF585E-8556-7C44-5D02-6C2D6644B0EE}"/>
              </a:ext>
            </a:extLst>
          </p:cNvPr>
          <p:cNvSpPr txBox="1"/>
          <p:nvPr/>
        </p:nvSpPr>
        <p:spPr>
          <a:xfrm>
            <a:off x="710565" y="1671955"/>
            <a:ext cx="1104116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根据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id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查询菜品 接口开发：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167E81D-0EB1-A596-4BA0-12F851AA9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883" y="2515172"/>
            <a:ext cx="9809011" cy="3340596"/>
          </a:xfrm>
          <a:prstGeom prst="roundRect">
            <a:avLst>
              <a:gd name="adj" fmla="val 2114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根据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查询菜品和关联的口味数据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@return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DishVO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getByIdWithFlavor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id) 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查询菜品表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 dish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dishMapper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.getById(id);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查询关联的口味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List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DishFlavor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dishFlavorList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dishFlavorMapper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.getByDishId(id);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封装成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VO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DishVO dishVO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new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DishVO();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BeanUtils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copyProperties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dishVO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dishVO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.setFlavors(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dishFlavorList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return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dishVO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6" name="矩形: 对角圆角 5">
            <a:extLst>
              <a:ext uri="{FF2B5EF4-FFF2-40B4-BE49-F238E27FC236}">
                <a16:creationId xmlns:a16="http://schemas.microsoft.com/office/drawing/2014/main" id="{FBADC0D2-CAE3-5705-B0B2-2DC1996BDDB4}"/>
              </a:ext>
            </a:extLst>
          </p:cNvPr>
          <p:cNvSpPr/>
          <p:nvPr/>
        </p:nvSpPr>
        <p:spPr>
          <a:xfrm>
            <a:off x="8690781" y="5516115"/>
            <a:ext cx="1940113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DishServiceImpl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6221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DF585E-8556-7C44-5D02-6C2D6644B0EE}"/>
              </a:ext>
            </a:extLst>
          </p:cNvPr>
          <p:cNvSpPr txBox="1"/>
          <p:nvPr/>
        </p:nvSpPr>
        <p:spPr>
          <a:xfrm>
            <a:off x="710565" y="1671955"/>
            <a:ext cx="1104116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根据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id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查询菜品 接口开发：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49A3251-5B50-5F62-0FDC-CFAD20397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880" y="2492365"/>
            <a:ext cx="9241569" cy="1413153"/>
          </a:xfrm>
          <a:prstGeom prst="roundRect">
            <a:avLst>
              <a:gd name="adj" fmla="val 5976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根据菜品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查询对应的口味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dishId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@return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@Select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"select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from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dish_flavor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where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dish_id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#{dishId}"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List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DishFlavor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getByDishId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Long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dishId);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1D4F3E10-5951-8D1D-0F2A-FC847B38EB70}"/>
              </a:ext>
            </a:extLst>
          </p:cNvPr>
          <p:cNvSpPr/>
          <p:nvPr/>
        </p:nvSpPr>
        <p:spPr>
          <a:xfrm>
            <a:off x="8110336" y="3565865"/>
            <a:ext cx="1940113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DishFlavorMapper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9606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DF585E-8556-7C44-5D02-6C2D6644B0EE}"/>
              </a:ext>
            </a:extLst>
          </p:cNvPr>
          <p:cNvSpPr txBox="1"/>
          <p:nvPr/>
        </p:nvSpPr>
        <p:spPr>
          <a:xfrm>
            <a:off x="710565" y="1671955"/>
            <a:ext cx="1104116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修改菜品 接口开发：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F6FCBCC-AE86-D851-AA4D-B0F00EA49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789" y="2533490"/>
            <a:ext cx="9430247" cy="2164735"/>
          </a:xfrm>
          <a:prstGeom prst="roundRect">
            <a:avLst>
              <a:gd name="adj" fmla="val 3807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修改菜品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@return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@PutMapping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@ApiOperation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修改菜品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Result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update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@RequestBody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dishDTO){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log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.info(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修改菜品：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{}"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, dishDTO);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dishService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.updateWithFlavor(dishDTO);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return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Result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success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85326F0E-D578-A126-1372-7E7B1ACB5030}"/>
              </a:ext>
            </a:extLst>
          </p:cNvPr>
          <p:cNvSpPr/>
          <p:nvPr/>
        </p:nvSpPr>
        <p:spPr>
          <a:xfrm>
            <a:off x="8762337" y="4358572"/>
            <a:ext cx="1518699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DishController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2616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DF585E-8556-7C44-5D02-6C2D6644B0EE}"/>
              </a:ext>
            </a:extLst>
          </p:cNvPr>
          <p:cNvSpPr txBox="1"/>
          <p:nvPr/>
        </p:nvSpPr>
        <p:spPr>
          <a:xfrm>
            <a:off x="710565" y="1671955"/>
            <a:ext cx="1104116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修改菜品 接口开发：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D4106D1-6166-B2D5-7C31-B0114D303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248" y="2553594"/>
            <a:ext cx="9146590" cy="1038582"/>
          </a:xfrm>
          <a:prstGeom prst="roundRect">
            <a:avLst>
              <a:gd name="adj" fmla="val 9011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根据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修改菜品和关联的口味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void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updateWithFlavor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dishDTO);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48E99CE4-4AED-C87A-C3FD-A47719A4C2A5}"/>
              </a:ext>
            </a:extLst>
          </p:cNvPr>
          <p:cNvSpPr/>
          <p:nvPr/>
        </p:nvSpPr>
        <p:spPr>
          <a:xfrm>
            <a:off x="8611262" y="3252523"/>
            <a:ext cx="1375576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DishService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744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DF585E-8556-7C44-5D02-6C2D6644B0EE}"/>
              </a:ext>
            </a:extLst>
          </p:cNvPr>
          <p:cNvSpPr txBox="1"/>
          <p:nvPr/>
        </p:nvSpPr>
        <p:spPr>
          <a:xfrm>
            <a:off x="710565" y="1671955"/>
            <a:ext cx="1104116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修改菜品 接口开发：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30E78A3-D97A-D49C-AE2D-C3E1FD0FF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837" y="2377012"/>
            <a:ext cx="9859617" cy="4195167"/>
          </a:xfrm>
          <a:prstGeom prst="roundRect">
            <a:avLst>
              <a:gd name="adj" fmla="val 1881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根据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修改菜品和关联的口味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*/</a:t>
            </a:r>
            <a:endParaRPr kumimoji="0" lang="en-US" altLang="zh-CN" sz="1100" b="0" i="1" u="none" strike="noStrike" cap="none" normalizeH="0" baseline="0">
              <a:ln>
                <a:noFill/>
              </a:ln>
              <a:solidFill>
                <a:srgbClr val="8C8C8C"/>
              </a:solidFill>
              <a:effectLst/>
              <a:latin typeface="Consolas" panose="020B0609020204030204" pitchFamily="49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i="1">
                <a:solidFill>
                  <a:srgbClr val="8C8C8C"/>
                </a:solidFill>
                <a:latin typeface="Consolas" panose="020B0609020204030204" pitchFamily="49" charset="0"/>
                <a:ea typeface="阿里巴巴普惠体" panose="00020600040101010101"/>
              </a:rPr>
              <a:t>@</a:t>
            </a:r>
            <a:r>
              <a:rPr lang="en-US" altLang="zh-CN" sz="1100">
                <a:solidFill>
                  <a:srgbClr val="9E880D"/>
                </a:solidFill>
                <a:latin typeface="Consolas" panose="020B0609020204030204" pitchFamily="49" charset="0"/>
                <a:ea typeface="阿里巴巴普惠体" panose="00020600040101010101"/>
              </a:rPr>
              <a:t>Transactional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public void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updateWithFlavor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dishDTO) 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 dish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new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Dish();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BeanUtils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copyProperties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(dishDTO,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修改菜品表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，执行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update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操作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dishMapper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.update(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删除当前菜品关联的口味数据，操作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dish_flavor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，执行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delete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操作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dishFlavorMapper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.deleteByDishId(dishDTO.getId());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//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插入最新的口味数据，操作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dish_flavor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，执行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insert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操作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List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DishFlavor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flavors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 dishDTO.getFlavors();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flavors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!=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null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&amp;&amp;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flavors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.size() &gt;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0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flavors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.forEach(dishFlavor -&gt; 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dishFlavor.setDishId(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51691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dishDTO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.getId());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});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dishFlavorMapper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.insertBatch(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flavors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D1CE3E19-B8A6-A3D0-A237-CF37B41822F2}"/>
              </a:ext>
            </a:extLst>
          </p:cNvPr>
          <p:cNvSpPr/>
          <p:nvPr/>
        </p:nvSpPr>
        <p:spPr>
          <a:xfrm>
            <a:off x="8762341" y="6232526"/>
            <a:ext cx="1940113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DishServiceImpl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8215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DF585E-8556-7C44-5D02-6C2D6644B0EE}"/>
              </a:ext>
            </a:extLst>
          </p:cNvPr>
          <p:cNvSpPr txBox="1"/>
          <p:nvPr/>
        </p:nvSpPr>
        <p:spPr>
          <a:xfrm>
            <a:off x="710565" y="1671955"/>
            <a:ext cx="1104116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修改菜品 接口开发：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E343C1E-59B2-695E-3378-38A225444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887" y="2509941"/>
            <a:ext cx="9573370" cy="1225868"/>
          </a:xfrm>
          <a:prstGeom prst="roundRect">
            <a:avLst>
              <a:gd name="adj" fmla="val 7586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/**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*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根据主键修改菜品信息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 @param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*/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@AutoFill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OperationType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UPDATE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)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void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update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dish);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6" name="矩形: 对角圆角 5">
            <a:extLst>
              <a:ext uri="{FF2B5EF4-FFF2-40B4-BE49-F238E27FC236}">
                <a16:creationId xmlns:a16="http://schemas.microsoft.com/office/drawing/2014/main" id="{818E8CBB-B706-EB6D-3BA5-C7A4C281CCCD}"/>
              </a:ext>
            </a:extLst>
          </p:cNvPr>
          <p:cNvSpPr/>
          <p:nvPr/>
        </p:nvSpPr>
        <p:spPr>
          <a:xfrm>
            <a:off x="8921363" y="3396156"/>
            <a:ext cx="1486894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DishMapper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978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DF585E-8556-7C44-5D02-6C2D6644B0EE}"/>
              </a:ext>
            </a:extLst>
          </p:cNvPr>
          <p:cNvSpPr txBox="1"/>
          <p:nvPr/>
        </p:nvSpPr>
        <p:spPr>
          <a:xfrm>
            <a:off x="710565" y="1671955"/>
            <a:ext cx="1104116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修改菜品 接口开发：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EBAD9F7-37E8-8275-F508-366B595C8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0317" y="1320195"/>
            <a:ext cx="8834490" cy="5170646"/>
          </a:xfrm>
          <a:prstGeom prst="roundRect">
            <a:avLst>
              <a:gd name="adj" fmla="val 1561"/>
            </a:avLst>
          </a:prstGeom>
          <a:solidFill>
            <a:srgbClr val="FFFFE4"/>
          </a:solidFill>
          <a:ln w="3175">
            <a:solidFill>
              <a:schemeClr val="tx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update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="update"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update dish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test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="name != null"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name = #{name},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test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="categoryId != null"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category_id = #{categoryId},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test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="price != null"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price = #{price},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test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="image != null"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image = #{image},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test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="description != null"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description = #{description},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test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="status != null"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status = #{status},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test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="updateTime != null"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update_time = #{updateTime},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test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="updateUser != null"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    update_user = #{updateUser},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if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set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   where id = #{id}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update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&gt;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6" name="矩形: 对角圆角 5">
            <a:extLst>
              <a:ext uri="{FF2B5EF4-FFF2-40B4-BE49-F238E27FC236}">
                <a16:creationId xmlns:a16="http://schemas.microsoft.com/office/drawing/2014/main" id="{818E8CBB-B706-EB6D-3BA5-C7A4C281CCCD}"/>
              </a:ext>
            </a:extLst>
          </p:cNvPr>
          <p:cNvSpPr/>
          <p:nvPr/>
        </p:nvSpPr>
        <p:spPr>
          <a:xfrm>
            <a:off x="9684694" y="6151188"/>
            <a:ext cx="1940113" cy="339653"/>
          </a:xfrm>
          <a:prstGeom prst="round2DiagRect">
            <a:avLst>
              <a:gd name="adj1" fmla="val 25741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3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DishMapper.xml</a:t>
            </a:r>
            <a:endParaRPr lang="zh-CN" altLang="en-US" sz="13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539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714639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修改菜品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1533399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需求分析和设计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kumimoji="1"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209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功能测试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1A7E01-62DA-EE8C-F2D3-8C9D0E95CB9E}"/>
              </a:ext>
            </a:extLst>
          </p:cNvPr>
          <p:cNvSpPr txBox="1"/>
          <p:nvPr/>
        </p:nvSpPr>
        <p:spPr>
          <a:xfrm>
            <a:off x="794385" y="1607820"/>
            <a:ext cx="1005713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Swagger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接口文档进行测试，通过后再前后端联调测试即可</a:t>
            </a:r>
            <a:endParaRPr 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5214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90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102957</TotalTime>
  <Words>1507</Words>
  <Application>Microsoft Office PowerPoint</Application>
  <PresentationFormat>宽屏</PresentationFormat>
  <Paragraphs>462</Paragraphs>
  <Slides>89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89</vt:i4>
      </vt:variant>
    </vt:vector>
  </HeadingPairs>
  <TitlesOfParts>
    <vt:vector size="115" baseType="lpstr">
      <vt:lpstr>Alibaba PuHuiTi</vt:lpstr>
      <vt:lpstr>Alibaba PuHuiTi B</vt:lpstr>
      <vt:lpstr>Alibaba PuHuiTi M</vt:lpstr>
      <vt:lpstr>Alibaba PuHuiTi Medium</vt:lpstr>
      <vt:lpstr>Alibaba PuHuiTi R</vt:lpstr>
      <vt:lpstr>Open Sans</vt:lpstr>
      <vt:lpstr>阿里巴巴普惠体</vt:lpstr>
      <vt:lpstr>等线</vt:lpstr>
      <vt:lpstr>黑体</vt:lpstr>
      <vt:lpstr>STKaiti</vt:lpstr>
      <vt:lpstr>STKaiti</vt:lpstr>
      <vt:lpstr>宋体</vt:lpstr>
      <vt:lpstr>微软雅黑</vt:lpstr>
      <vt:lpstr>Arial</vt:lpstr>
      <vt:lpstr>Calibri</vt:lpstr>
      <vt:lpstr>Consolas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菜品管理</vt:lpstr>
      <vt:lpstr>PowerPoint 演示文稿</vt:lpstr>
      <vt:lpstr>PowerPoint 演示文稿</vt:lpstr>
      <vt:lpstr>公共字段自动填充</vt:lpstr>
      <vt:lpstr>问题分析</vt:lpstr>
      <vt:lpstr>公共字段自动填充</vt:lpstr>
      <vt:lpstr>实现思路</vt:lpstr>
      <vt:lpstr>公共字段自动填充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公共字段自动填充</vt:lpstr>
      <vt:lpstr>功能测试</vt:lpstr>
      <vt:lpstr>PowerPoint 演示文稿</vt:lpstr>
      <vt:lpstr>新增菜品</vt:lpstr>
      <vt:lpstr>需求分析和设计</vt:lpstr>
      <vt:lpstr>需求分析和设计</vt:lpstr>
      <vt:lpstr>需求分析和设计</vt:lpstr>
      <vt:lpstr>需求分析和设计</vt:lpstr>
      <vt:lpstr>需求分析和设计</vt:lpstr>
      <vt:lpstr>需求分析和设计</vt:lpstr>
      <vt:lpstr>需求分析和设计</vt:lpstr>
      <vt:lpstr>新增菜品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新增菜品</vt:lpstr>
      <vt:lpstr>功能测试</vt:lpstr>
      <vt:lpstr>PowerPoint 演示文稿</vt:lpstr>
      <vt:lpstr>菜品分页查询</vt:lpstr>
      <vt:lpstr>需求分析和设计</vt:lpstr>
      <vt:lpstr>需求分析和设计</vt:lpstr>
      <vt:lpstr>需求分析和设计</vt:lpstr>
      <vt:lpstr>菜品分页查询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菜品分页查询</vt:lpstr>
      <vt:lpstr>功能测试</vt:lpstr>
      <vt:lpstr>PowerPoint 演示文稿</vt:lpstr>
      <vt:lpstr>删除菜品</vt:lpstr>
      <vt:lpstr>需求分析和设计</vt:lpstr>
      <vt:lpstr>需求分析和设计</vt:lpstr>
      <vt:lpstr>需求分析和设计</vt:lpstr>
      <vt:lpstr>需求分析和设计</vt:lpstr>
      <vt:lpstr>删除菜品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删除菜品</vt:lpstr>
      <vt:lpstr>功能测试</vt:lpstr>
      <vt:lpstr>PowerPoint 演示文稿</vt:lpstr>
      <vt:lpstr>修改菜品</vt:lpstr>
      <vt:lpstr>需求分析和设计</vt:lpstr>
      <vt:lpstr>需求分析和设计</vt:lpstr>
      <vt:lpstr>需求分析和设计</vt:lpstr>
      <vt:lpstr>需求分析和设计</vt:lpstr>
      <vt:lpstr>修改菜品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修改菜品</vt:lpstr>
      <vt:lpstr>功能测试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景镔 罗</cp:lastModifiedBy>
  <cp:revision>9851</cp:revision>
  <dcterms:created xsi:type="dcterms:W3CDTF">2020-03-31T02:23:27Z</dcterms:created>
  <dcterms:modified xsi:type="dcterms:W3CDTF">2026-01-22T13:00:49Z</dcterms:modified>
</cp:coreProperties>
</file>